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7" r:id="rId6"/>
    <p:sldId id="267" r:id="rId7"/>
    <p:sldId id="278" r:id="rId8"/>
    <p:sldId id="279" r:id="rId9"/>
    <p:sldId id="280" r:id="rId10"/>
    <p:sldId id="287" r:id="rId11"/>
    <p:sldId id="281" r:id="rId12"/>
    <p:sldId id="282" r:id="rId13"/>
    <p:sldId id="283" r:id="rId14"/>
    <p:sldId id="286" r:id="rId15"/>
    <p:sldId id="284" r:id="rId16"/>
    <p:sldId id="28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3" dt="2026-09-23T03:04:28.907"/>
    <p1510:client id="{8566D101-BE44-B949-B25A-D91CE148E8DB}" v="112" dt="2026-09-23T03:25:35.627"/>
  </p1510:revLst>
</p1510:revInfo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21" autoAdjust="0"/>
    <p:restoredTop sz="90205" autoAdjust="0"/>
  </p:normalViewPr>
  <p:slideViewPr>
    <p:cSldViewPr snapToGrid="0">
      <p:cViewPr varScale="1">
        <p:scale>
          <a:sx n="107" d="100"/>
          <a:sy n="107" d="100"/>
        </p:scale>
        <p:origin x="176" y="3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6" d="100"/>
          <a:sy n="106" d="100"/>
        </p:scale>
        <p:origin x="453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5314F2-7FB4-46CD-B4F0-CC9E8ACA5A35}" type="doc">
      <dgm:prSet loTypeId="urn:microsoft.com/office/officeart/2008/layout/LinedList" loCatId="list" qsTypeId="urn:microsoft.com/office/officeart/2005/8/quickstyle/simple1#3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6D51EAA1-0F74-4750-BCA9-52365E7E4C2D}">
      <dgm:prSet/>
      <dgm:spPr/>
      <dgm:t>
        <a:bodyPr/>
        <a:lstStyle/>
        <a:p>
          <a:r>
            <a:rPr lang="en-US" b="0">
              <a:latin typeface="Public Sans"/>
            </a:rPr>
            <a:t>A recent survey in September 2024 reveals that almost 71% of Australian university staff including Academics are using Generative AI Tools. </a:t>
          </a:r>
        </a:p>
      </dgm:t>
    </dgm:pt>
    <dgm:pt modelId="{7C1A29FF-8196-489B-9700-EB2977F997CF}" type="parTrans" cxnId="{257716E6-11FF-4563-845C-9969D10BB6B0}">
      <dgm:prSet/>
      <dgm:spPr/>
      <dgm:t>
        <a:bodyPr/>
        <a:lstStyle/>
        <a:p>
          <a:endParaRPr lang="en-US"/>
        </a:p>
      </dgm:t>
    </dgm:pt>
    <dgm:pt modelId="{83032927-3A75-4153-9010-1103C4E1B2B2}" type="sibTrans" cxnId="{257716E6-11FF-4563-845C-9969D10BB6B0}">
      <dgm:prSet/>
      <dgm:spPr/>
      <dgm:t>
        <a:bodyPr/>
        <a:lstStyle/>
        <a:p>
          <a:endParaRPr lang="en-US"/>
        </a:p>
      </dgm:t>
    </dgm:pt>
    <dgm:pt modelId="{5128CA65-1B5C-43D0-A18D-789DD4AE3D9E}">
      <dgm:prSet/>
      <dgm:spPr/>
      <dgm:t>
        <a:bodyPr spcFirstLastPara="0" vert="horz" wrap="square" lIns="0" tIns="0" rIns="0" bIns="0" numCol="1" spcCol="1270" anchor="ctr" anchorCtr="0"/>
        <a:lstStyle/>
        <a:p>
          <a:r>
            <a:rPr lang="en-US" b="0" dirty="0">
              <a:latin typeface="Public Sans"/>
            </a:rPr>
            <a:t>On Average 60% are using it for Literature search analysis Text Summary Analysis and day-to-day tasks. </a:t>
          </a:r>
        </a:p>
      </dgm:t>
    </dgm:pt>
    <dgm:pt modelId="{4082E18C-F944-410C-9769-BE9BEBE46F85}" type="parTrans" cxnId="{9088CD78-808A-4EB4-B8E1-B37504D22572}">
      <dgm:prSet/>
      <dgm:spPr/>
      <dgm:t>
        <a:bodyPr/>
        <a:lstStyle/>
        <a:p>
          <a:endParaRPr lang="en-US"/>
        </a:p>
      </dgm:t>
    </dgm:pt>
    <dgm:pt modelId="{E7E1780B-E0BE-429A-A5AE-3963F688907B}" type="sibTrans" cxnId="{9088CD78-808A-4EB4-B8E1-B37504D22572}">
      <dgm:prSet/>
      <dgm:spPr/>
      <dgm:t>
        <a:bodyPr/>
        <a:lstStyle/>
        <a:p>
          <a:endParaRPr lang="en-US"/>
        </a:p>
      </dgm:t>
    </dgm:pt>
    <dgm:pt modelId="{90448F40-015B-4768-9436-CD12FC80ECE0}">
      <dgm:prSet/>
      <dgm:spPr/>
      <dgm:t>
        <a:bodyPr/>
        <a:lstStyle/>
        <a:p>
          <a:r>
            <a:rPr lang="en-US" b="0">
              <a:latin typeface="Public Sans"/>
            </a:rPr>
            <a:t>10% use AI for Data Analysis, Visualisations and task Automation </a:t>
          </a:r>
        </a:p>
      </dgm:t>
    </dgm:pt>
    <dgm:pt modelId="{997A3691-175A-41E3-90F4-E288BBEF0B9D}" type="parTrans" cxnId="{CE3713DF-2DBF-4A16-9255-70A682FDA9D3}">
      <dgm:prSet/>
      <dgm:spPr/>
      <dgm:t>
        <a:bodyPr/>
        <a:lstStyle/>
        <a:p>
          <a:endParaRPr lang="en-US"/>
        </a:p>
      </dgm:t>
    </dgm:pt>
    <dgm:pt modelId="{A59BF812-A363-42BA-B1ED-635708A33062}" type="sibTrans" cxnId="{CE3713DF-2DBF-4A16-9255-70A682FDA9D3}">
      <dgm:prSet/>
      <dgm:spPr/>
      <dgm:t>
        <a:bodyPr/>
        <a:lstStyle/>
        <a:p>
          <a:endParaRPr lang="en-US"/>
        </a:p>
      </dgm:t>
    </dgm:pt>
    <dgm:pt modelId="{2266B3CF-3E3A-814D-A04A-1E94AA389838}" type="pres">
      <dgm:prSet presAssocID="{465314F2-7FB4-46CD-B4F0-CC9E8ACA5A35}" presName="vert0" presStyleCnt="0">
        <dgm:presLayoutVars>
          <dgm:dir/>
          <dgm:animOne val="branch"/>
          <dgm:animLvl val="lvl"/>
        </dgm:presLayoutVars>
      </dgm:prSet>
      <dgm:spPr/>
    </dgm:pt>
    <dgm:pt modelId="{F3A01635-7CA1-6343-AEC3-7567946DD37D}" type="pres">
      <dgm:prSet presAssocID="{6D51EAA1-0F74-4750-BCA9-52365E7E4C2D}" presName="thickLine" presStyleLbl="alignNode1" presStyleIdx="0" presStyleCnt="3"/>
      <dgm:spPr/>
    </dgm:pt>
    <dgm:pt modelId="{64FB94E9-63CC-C042-B028-6F27C6AEDEF6}" type="pres">
      <dgm:prSet presAssocID="{6D51EAA1-0F74-4750-BCA9-52365E7E4C2D}" presName="horz1" presStyleCnt="0"/>
      <dgm:spPr/>
    </dgm:pt>
    <dgm:pt modelId="{6C1D2AAA-3E47-A844-848F-1C6254D5300F}" type="pres">
      <dgm:prSet presAssocID="{6D51EAA1-0F74-4750-BCA9-52365E7E4C2D}" presName="tx1" presStyleLbl="revTx" presStyleIdx="0" presStyleCnt="3"/>
      <dgm:spPr/>
    </dgm:pt>
    <dgm:pt modelId="{7741D54C-9A53-6F4C-A7D8-642F1852AF17}" type="pres">
      <dgm:prSet presAssocID="{6D51EAA1-0F74-4750-BCA9-52365E7E4C2D}" presName="vert1" presStyleCnt="0"/>
      <dgm:spPr/>
    </dgm:pt>
    <dgm:pt modelId="{2B65401F-4F7F-1D4E-8AEB-C5EB7A7D3DBD}" type="pres">
      <dgm:prSet presAssocID="{5128CA65-1B5C-43D0-A18D-789DD4AE3D9E}" presName="thickLine" presStyleLbl="alignNode1" presStyleIdx="1" presStyleCnt="3"/>
      <dgm:spPr/>
    </dgm:pt>
    <dgm:pt modelId="{0846F55D-67F3-524F-A4C0-87B19C287B4C}" type="pres">
      <dgm:prSet presAssocID="{5128CA65-1B5C-43D0-A18D-789DD4AE3D9E}" presName="horz1" presStyleCnt="0"/>
      <dgm:spPr/>
    </dgm:pt>
    <dgm:pt modelId="{62B28352-22EB-5843-9B53-66132114EC27}" type="pres">
      <dgm:prSet presAssocID="{5128CA65-1B5C-43D0-A18D-789DD4AE3D9E}" presName="tx1" presStyleLbl="revTx" presStyleIdx="1" presStyleCnt="3"/>
      <dgm:spPr/>
    </dgm:pt>
    <dgm:pt modelId="{EC0E0435-5109-D743-9791-F18EB71A5E7A}" type="pres">
      <dgm:prSet presAssocID="{5128CA65-1B5C-43D0-A18D-789DD4AE3D9E}" presName="vert1" presStyleCnt="0"/>
      <dgm:spPr/>
    </dgm:pt>
    <dgm:pt modelId="{E472DDE4-EDF6-3443-B71E-D695883C4314}" type="pres">
      <dgm:prSet presAssocID="{90448F40-015B-4768-9436-CD12FC80ECE0}" presName="thickLine" presStyleLbl="alignNode1" presStyleIdx="2" presStyleCnt="3"/>
      <dgm:spPr/>
    </dgm:pt>
    <dgm:pt modelId="{8A002EE8-1071-734F-B289-B1FC5BF83F43}" type="pres">
      <dgm:prSet presAssocID="{90448F40-015B-4768-9436-CD12FC80ECE0}" presName="horz1" presStyleCnt="0"/>
      <dgm:spPr/>
    </dgm:pt>
    <dgm:pt modelId="{CF8AE645-EE62-D14C-8A7E-93B46C88C73D}" type="pres">
      <dgm:prSet presAssocID="{90448F40-015B-4768-9436-CD12FC80ECE0}" presName="tx1" presStyleLbl="revTx" presStyleIdx="2" presStyleCnt="3"/>
      <dgm:spPr/>
    </dgm:pt>
    <dgm:pt modelId="{8C0C9879-8829-3F47-A7AA-7A38CA687E89}" type="pres">
      <dgm:prSet presAssocID="{90448F40-015B-4768-9436-CD12FC80ECE0}" presName="vert1" presStyleCnt="0"/>
      <dgm:spPr/>
    </dgm:pt>
  </dgm:ptLst>
  <dgm:cxnLst>
    <dgm:cxn modelId="{1676866D-1874-9840-BFA5-597136C2ADD9}" type="presOf" srcId="{465314F2-7FB4-46CD-B4F0-CC9E8ACA5A35}" destId="{2266B3CF-3E3A-814D-A04A-1E94AA389838}" srcOrd="0" destOrd="0" presId="urn:microsoft.com/office/officeart/2008/layout/LinedList"/>
    <dgm:cxn modelId="{9088CD78-808A-4EB4-B8E1-B37504D22572}" srcId="{465314F2-7FB4-46CD-B4F0-CC9E8ACA5A35}" destId="{5128CA65-1B5C-43D0-A18D-789DD4AE3D9E}" srcOrd="1" destOrd="0" parTransId="{4082E18C-F944-410C-9769-BE9BEBE46F85}" sibTransId="{E7E1780B-E0BE-429A-A5AE-3963F688907B}"/>
    <dgm:cxn modelId="{6FE80282-89F0-FC4F-81BD-6836ECEC7E2A}" type="presOf" srcId="{6D51EAA1-0F74-4750-BCA9-52365E7E4C2D}" destId="{6C1D2AAA-3E47-A844-848F-1C6254D5300F}" srcOrd="0" destOrd="0" presId="urn:microsoft.com/office/officeart/2008/layout/LinedList"/>
    <dgm:cxn modelId="{E44808BB-556E-4C47-9926-9051FC210224}" type="presOf" srcId="{90448F40-015B-4768-9436-CD12FC80ECE0}" destId="{CF8AE645-EE62-D14C-8A7E-93B46C88C73D}" srcOrd="0" destOrd="0" presId="urn:microsoft.com/office/officeart/2008/layout/LinedList"/>
    <dgm:cxn modelId="{472B11BB-ABFD-1047-BCAD-16CF1974EE26}" type="presOf" srcId="{5128CA65-1B5C-43D0-A18D-789DD4AE3D9E}" destId="{62B28352-22EB-5843-9B53-66132114EC27}" srcOrd="0" destOrd="0" presId="urn:microsoft.com/office/officeart/2008/layout/LinedList"/>
    <dgm:cxn modelId="{CE3713DF-2DBF-4A16-9255-70A682FDA9D3}" srcId="{465314F2-7FB4-46CD-B4F0-CC9E8ACA5A35}" destId="{90448F40-015B-4768-9436-CD12FC80ECE0}" srcOrd="2" destOrd="0" parTransId="{997A3691-175A-41E3-90F4-E288BBEF0B9D}" sibTransId="{A59BF812-A363-42BA-B1ED-635708A33062}"/>
    <dgm:cxn modelId="{257716E6-11FF-4563-845C-9969D10BB6B0}" srcId="{465314F2-7FB4-46CD-B4F0-CC9E8ACA5A35}" destId="{6D51EAA1-0F74-4750-BCA9-52365E7E4C2D}" srcOrd="0" destOrd="0" parTransId="{7C1A29FF-8196-489B-9700-EB2977F997CF}" sibTransId="{83032927-3A75-4153-9010-1103C4E1B2B2}"/>
    <dgm:cxn modelId="{E235422A-FD19-C943-88B0-21D5E169454A}" type="presParOf" srcId="{2266B3CF-3E3A-814D-A04A-1E94AA389838}" destId="{F3A01635-7CA1-6343-AEC3-7567946DD37D}" srcOrd="0" destOrd="0" presId="urn:microsoft.com/office/officeart/2008/layout/LinedList"/>
    <dgm:cxn modelId="{2A78306C-3BED-B949-854B-5BF8D5DBC48D}" type="presParOf" srcId="{2266B3CF-3E3A-814D-A04A-1E94AA389838}" destId="{64FB94E9-63CC-C042-B028-6F27C6AEDEF6}" srcOrd="1" destOrd="0" presId="urn:microsoft.com/office/officeart/2008/layout/LinedList"/>
    <dgm:cxn modelId="{2D52CBCD-85CE-5747-89A8-E6AEF13F790F}" type="presParOf" srcId="{64FB94E9-63CC-C042-B028-6F27C6AEDEF6}" destId="{6C1D2AAA-3E47-A844-848F-1C6254D5300F}" srcOrd="0" destOrd="0" presId="urn:microsoft.com/office/officeart/2008/layout/LinedList"/>
    <dgm:cxn modelId="{79203981-4059-7243-9A2C-A76E6EE47018}" type="presParOf" srcId="{64FB94E9-63CC-C042-B028-6F27C6AEDEF6}" destId="{7741D54C-9A53-6F4C-A7D8-642F1852AF17}" srcOrd="1" destOrd="0" presId="urn:microsoft.com/office/officeart/2008/layout/LinedList"/>
    <dgm:cxn modelId="{3568FB02-EFD6-A847-A61B-771B8871CF21}" type="presParOf" srcId="{2266B3CF-3E3A-814D-A04A-1E94AA389838}" destId="{2B65401F-4F7F-1D4E-8AEB-C5EB7A7D3DBD}" srcOrd="2" destOrd="0" presId="urn:microsoft.com/office/officeart/2008/layout/LinedList"/>
    <dgm:cxn modelId="{E144CC79-85D1-D443-B4E5-8651733057C8}" type="presParOf" srcId="{2266B3CF-3E3A-814D-A04A-1E94AA389838}" destId="{0846F55D-67F3-524F-A4C0-87B19C287B4C}" srcOrd="3" destOrd="0" presId="urn:microsoft.com/office/officeart/2008/layout/LinedList"/>
    <dgm:cxn modelId="{4BF47659-BBFA-2544-B519-01AC78D2031A}" type="presParOf" srcId="{0846F55D-67F3-524F-A4C0-87B19C287B4C}" destId="{62B28352-22EB-5843-9B53-66132114EC27}" srcOrd="0" destOrd="0" presId="urn:microsoft.com/office/officeart/2008/layout/LinedList"/>
    <dgm:cxn modelId="{AC825EFF-A065-E94F-83A7-D89B0C374236}" type="presParOf" srcId="{0846F55D-67F3-524F-A4C0-87B19C287B4C}" destId="{EC0E0435-5109-D743-9791-F18EB71A5E7A}" srcOrd="1" destOrd="0" presId="urn:microsoft.com/office/officeart/2008/layout/LinedList"/>
    <dgm:cxn modelId="{7C977377-7911-2E43-B59C-D8A2C60F3085}" type="presParOf" srcId="{2266B3CF-3E3A-814D-A04A-1E94AA389838}" destId="{E472DDE4-EDF6-3443-B71E-D695883C4314}" srcOrd="4" destOrd="0" presId="urn:microsoft.com/office/officeart/2008/layout/LinedList"/>
    <dgm:cxn modelId="{5B877119-3317-A541-9476-BFD754BC2133}" type="presParOf" srcId="{2266B3CF-3E3A-814D-A04A-1E94AA389838}" destId="{8A002EE8-1071-734F-B289-B1FC5BF83F43}" srcOrd="5" destOrd="0" presId="urn:microsoft.com/office/officeart/2008/layout/LinedList"/>
    <dgm:cxn modelId="{0474A261-73D5-194B-857A-EF5D24D7E35A}" type="presParOf" srcId="{8A002EE8-1071-734F-B289-B1FC5BF83F43}" destId="{CF8AE645-EE62-D14C-8A7E-93B46C88C73D}" srcOrd="0" destOrd="0" presId="urn:microsoft.com/office/officeart/2008/layout/LinedList"/>
    <dgm:cxn modelId="{EB2D6FA0-FB36-724E-9508-56B93A2DD96B}" type="presParOf" srcId="{8A002EE8-1071-734F-B289-B1FC5BF83F43}" destId="{8C0C9879-8829-3F47-A7AA-7A38CA687E8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A01635-7CA1-6343-AEC3-7567946DD37D}">
      <dsp:nvSpPr>
        <dsp:cNvPr id="0" name=""/>
        <dsp:cNvSpPr/>
      </dsp:nvSpPr>
      <dsp:spPr>
        <a:xfrm>
          <a:off x="0" y="2319"/>
          <a:ext cx="86074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1D2AAA-3E47-A844-848F-1C6254D5300F}">
      <dsp:nvSpPr>
        <dsp:cNvPr id="0" name=""/>
        <dsp:cNvSpPr/>
      </dsp:nvSpPr>
      <dsp:spPr>
        <a:xfrm>
          <a:off x="0" y="2319"/>
          <a:ext cx="8607425" cy="1581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kern="1200">
              <a:latin typeface="Public Sans"/>
            </a:rPr>
            <a:t>A recent survey in September 2024 reveals that almost 71% of Australian university staff including Academics are using Generative AI Tools. </a:t>
          </a:r>
        </a:p>
      </dsp:txBody>
      <dsp:txXfrm>
        <a:off x="0" y="2319"/>
        <a:ext cx="8607425" cy="1581720"/>
      </dsp:txXfrm>
    </dsp:sp>
    <dsp:sp modelId="{2B65401F-4F7F-1D4E-8AEB-C5EB7A7D3DBD}">
      <dsp:nvSpPr>
        <dsp:cNvPr id="0" name=""/>
        <dsp:cNvSpPr/>
      </dsp:nvSpPr>
      <dsp:spPr>
        <a:xfrm>
          <a:off x="0" y="1584039"/>
          <a:ext cx="86074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28352-22EB-5843-9B53-66132114EC27}">
      <dsp:nvSpPr>
        <dsp:cNvPr id="0" name=""/>
        <dsp:cNvSpPr/>
      </dsp:nvSpPr>
      <dsp:spPr>
        <a:xfrm>
          <a:off x="0" y="1584039"/>
          <a:ext cx="8607425" cy="1581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kern="1200" dirty="0">
              <a:latin typeface="Public Sans"/>
            </a:rPr>
            <a:t>On Average 60% are using it for Literature search analysis Text Summary Analysis and day-to-day tasks. </a:t>
          </a:r>
        </a:p>
      </dsp:txBody>
      <dsp:txXfrm>
        <a:off x="0" y="1584039"/>
        <a:ext cx="8607425" cy="1581720"/>
      </dsp:txXfrm>
    </dsp:sp>
    <dsp:sp modelId="{E472DDE4-EDF6-3443-B71E-D695883C4314}">
      <dsp:nvSpPr>
        <dsp:cNvPr id="0" name=""/>
        <dsp:cNvSpPr/>
      </dsp:nvSpPr>
      <dsp:spPr>
        <a:xfrm>
          <a:off x="0" y="3165760"/>
          <a:ext cx="86074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8AE645-EE62-D14C-8A7E-93B46C88C73D}">
      <dsp:nvSpPr>
        <dsp:cNvPr id="0" name=""/>
        <dsp:cNvSpPr/>
      </dsp:nvSpPr>
      <dsp:spPr>
        <a:xfrm>
          <a:off x="0" y="3165760"/>
          <a:ext cx="8607425" cy="1581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kern="1200">
              <a:latin typeface="Public Sans"/>
            </a:rPr>
            <a:t>10% use AI for Data Analysis, Visualisations and task Automation </a:t>
          </a:r>
        </a:p>
      </dsp:txBody>
      <dsp:txXfrm>
        <a:off x="0" y="3165760"/>
        <a:ext cx="8607425" cy="1581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C026C9-4C52-4B60-A858-A50E4BE56D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60113-35DB-4BB4-9269-631D6FEB5E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0D272-305C-421E-A9EF-95D63D599B42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0E5BB-A291-4B94-8433-B9D3F16854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7D678-038E-42A6-961E-EAB034DB47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E7DFA-63CC-4ED7-B30E-ACF88B4B89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091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16E63-7886-43BC-8DD4-4F14C3DD7360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8C5307-140F-447F-BCBA-BB92E3A290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154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algn="l"/>
            <a:r>
              <a:rPr lang="en-US" b="1" i="0">
                <a:solidFill>
                  <a:srgbClr val="333333"/>
                </a:solidFill>
                <a:effectLst/>
                <a:latin typeface="PT Serif" panose="020F0502020204030204" pitchFamily="18" charset="0"/>
              </a:rPr>
              <a:t>AI and its implications for research in higher education: a critical dialogue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https://www.tandfonline.com/doi/epdf/10.1080/07294360.2023.2280200?needAccess=true 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C5307-140F-447F-BCBA-BB92E3A2906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076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A survey: </a:t>
            </a:r>
          </a:p>
          <a:p>
            <a:endParaRPr lang="en-AU" dirty="0"/>
          </a:p>
          <a:p>
            <a:r>
              <a:rPr lang="en-AU" dirty="0"/>
              <a:t>https://eprints.qut.edu.au/252079/1/Engagement_with_Generative_AI_by_Australian_University_Staff_Final_Report.pdf </a:t>
            </a:r>
          </a:p>
          <a:p>
            <a:r>
              <a:rPr lang="en-AU" b="1" dirty="0"/>
              <a:t>Conversation Article </a:t>
            </a:r>
          </a:p>
          <a:p>
            <a:r>
              <a:rPr lang="en-AU" dirty="0"/>
              <a:t>https://theconversation.com/71-of-australian-uni-staff-are-using-ai-what-are-they-using-it-for-what-about-those-who-arent-240337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C5307-140F-447F-BCBA-BB92E3A2906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905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/>
                <a:latin typeface="ElsevierGulliver"/>
              </a:rPr>
              <a:t>Using artificial intelligence in academic writing and research: An essential productivity tool</a:t>
            </a:r>
          </a:p>
          <a:p>
            <a:br>
              <a:rPr lang="en-US" b="0" i="0" dirty="0">
                <a:solidFill>
                  <a:srgbClr val="1F1F1F"/>
                </a:solidFill>
                <a:effectLst/>
                <a:latin typeface="ElsevierSans"/>
              </a:rPr>
            </a:br>
            <a:r>
              <a:rPr lang="en-AU" dirty="0"/>
              <a:t>https://www.sciencedirect.com/science/article/pii/S2666990024000120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C5307-140F-447F-BCBA-BB92E3A2906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667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https://aidantr.github.io/files/AI_innovation.pdf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C5307-140F-447F-BCBA-BB92E3A2906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264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notes:</a:t>
            </a:r>
          </a:p>
          <a:p>
            <a:endParaRPr lang="en-US" dirty="0"/>
          </a:p>
          <a:p>
            <a:r>
              <a:rPr lang="en-US" b="1" dirty="0"/>
              <a:t>Effective and Responsible Use of AI in Research: Guidance for Performing Graduate Research and in Writing Dissertations, Theses, and Manuscripts for Publications </a:t>
            </a:r>
          </a:p>
          <a:p>
            <a:endParaRPr lang="en-US" dirty="0"/>
          </a:p>
          <a:p>
            <a:r>
              <a:rPr lang="en-AU" dirty="0"/>
              <a:t>https://grad.gatech.edu/sites/default/files/documents/Guidance%20for%20Effective%20and%20Responsible%20Use%20of%20AI%20in%20Research.pdf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C5307-140F-447F-BCBA-BB92E3A2906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012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notes: </a:t>
            </a:r>
          </a:p>
          <a:p>
            <a:endParaRPr lang="en-US" dirty="0"/>
          </a:p>
          <a:p>
            <a:r>
              <a:rPr lang="en-US" b="1" dirty="0"/>
              <a:t>Living guidelines on the RESPONSIBLE USE OF GENERATIVE AI IN RESEARCH</a:t>
            </a:r>
          </a:p>
          <a:p>
            <a:endParaRPr lang="en-US" dirty="0"/>
          </a:p>
          <a:p>
            <a:r>
              <a:rPr lang="en-AU" dirty="0"/>
              <a:t>https://research-and-innovation.ec.europa.eu/document/download/2b6cf7e5-36ac-41cb-aab5-0d32050143dc_en?filename=ec_rtd_ai-guidelines.pdf</a:t>
            </a:r>
          </a:p>
          <a:p>
            <a:endParaRPr lang="en-AU" dirty="0"/>
          </a:p>
          <a:p>
            <a:pPr algn="l"/>
            <a:r>
              <a:rPr lang="en-AU" b="1" i="0" dirty="0">
                <a:effectLst/>
                <a:latin typeface="Montserrat" panose="00000500000000000000" pitchFamily="2" charset="0"/>
              </a:rPr>
              <a:t>Responsible artificial intelligence research</a:t>
            </a:r>
          </a:p>
          <a:p>
            <a:pPr algn="l"/>
            <a:endParaRPr lang="en-AU" b="1" i="0" dirty="0">
              <a:effectLst/>
              <a:latin typeface="Montserrat" panose="00000500000000000000" pitchFamily="2" charset="0"/>
            </a:endParaRPr>
          </a:p>
          <a:p>
            <a:r>
              <a:rPr lang="en-US" b="1" dirty="0"/>
              <a:t>A UNIVERSITY FRAMEWORK FOR THE RESPONSIBLE USE OF GENERATIVE AI IN RESEARCH</a:t>
            </a:r>
            <a:endParaRPr lang="en-AU" b="1" dirty="0"/>
          </a:p>
          <a:p>
            <a:endParaRPr lang="en-AU" dirty="0"/>
          </a:p>
          <a:p>
            <a:r>
              <a:rPr lang="en-AU" dirty="0"/>
              <a:t>https://arxiv.org/pdf/2404.19244</a:t>
            </a:r>
          </a:p>
          <a:p>
            <a:pPr algn="l"/>
            <a:endParaRPr lang="en-AU" b="1" i="0" dirty="0">
              <a:effectLst/>
              <a:latin typeface="Montserrat" panose="00000500000000000000" pitchFamily="2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C5307-140F-447F-BCBA-BB92E3A2906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134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4FD2957-8595-499F-896A-E9A0888D0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44A184-010C-483F-8B5A-3D1E7E6EF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81153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7" name="Picture 6" descr="A purple and black background&#10;&#10;Description automatically generated">
            <a:extLst>
              <a:ext uri="{FF2B5EF4-FFF2-40B4-BE49-F238E27FC236}">
                <a16:creationId xmlns:a16="http://schemas.microsoft.com/office/drawing/2014/main" id="{9B6CE96D-3F7A-B60F-CE19-6004806C28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875" t="65975" r="29102" b="8250"/>
          <a:stretch/>
        </p:blipFill>
        <p:spPr>
          <a:xfrm>
            <a:off x="-4516" y="5128591"/>
            <a:ext cx="8113533" cy="172940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582A2E2-E6DD-4321-B03A-F6C071C1B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44" y="2100486"/>
            <a:ext cx="6815446" cy="2095985"/>
          </a:xfrm>
        </p:spPr>
        <p:txBody>
          <a:bodyPr anchor="t">
            <a:normAutofit/>
          </a:bodyPr>
          <a:lstStyle>
            <a:lvl1pPr>
              <a:defRPr sz="5000" spc="-2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21B6D9B-E3FB-48D2-A477-5B73E2216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45" y="4370033"/>
            <a:ext cx="6437555" cy="1303176"/>
          </a:xfrm>
        </p:spPr>
        <p:txBody>
          <a:bodyPr anchor="t">
            <a:norm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38823550-6B12-4BFD-9C91-668B623E353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13533" y="0"/>
            <a:ext cx="4082983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CFAF761-956E-6B4F-D103-6E56440859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77689" y="313833"/>
            <a:ext cx="1089921" cy="8030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818D35-4D89-E811-E9B4-9A821D247C31}"/>
              </a:ext>
            </a:extLst>
          </p:cNvPr>
          <p:cNvSpPr txBox="1"/>
          <p:nvPr userDrawn="1"/>
        </p:nvSpPr>
        <p:spPr>
          <a:xfrm>
            <a:off x="1959434" y="487718"/>
            <a:ext cx="220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Public Sans" pitchFamily="2" charset="77"/>
              </a:rPr>
              <a:t>Edith Cowan University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F72F249D-0771-A306-A855-083D548BAA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9435" y="702185"/>
            <a:ext cx="2786230" cy="30777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school or centre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0B8D93-90E8-A3F9-8B7D-36DABE96BFB3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purple and black background&#10;&#10;Description automatically generated">
            <a:extLst>
              <a:ext uri="{FF2B5EF4-FFF2-40B4-BE49-F238E27FC236}">
                <a16:creationId xmlns:a16="http://schemas.microsoft.com/office/drawing/2014/main" id="{B1BCF93A-E6C4-0568-269F-F89FA04F87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l="-8719" t="55560" r="27471"/>
          <a:stretch/>
        </p:blipFill>
        <p:spPr>
          <a:xfrm>
            <a:off x="-1" y="3106612"/>
            <a:ext cx="12192001" cy="37513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10E55B-F1A0-CDA3-005A-364A4B24AE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224" y="1893687"/>
            <a:ext cx="10552176" cy="1499616"/>
          </a:xfrm>
        </p:spPr>
        <p:txBody>
          <a:bodyPr>
            <a:normAutofit/>
          </a:bodyPr>
          <a:lstStyle>
            <a:lvl1pPr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add 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05B2585-27A4-12FE-F411-D725746F62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67866" y="313833"/>
            <a:ext cx="1089921" cy="8030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D1F422-D83C-31BD-BDF5-F89D03B1CDEF}"/>
              </a:ext>
            </a:extLst>
          </p:cNvPr>
          <p:cNvSpPr txBox="1"/>
          <p:nvPr userDrawn="1"/>
        </p:nvSpPr>
        <p:spPr>
          <a:xfrm>
            <a:off x="8311107" y="448915"/>
            <a:ext cx="220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  <a:latin typeface="Public Sans" pitchFamily="2" charset="77"/>
              </a:rPr>
              <a:t>Edith Cowan University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6F68C97-C707-1FA0-F683-FF823F3D2C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32911" y="663382"/>
            <a:ext cx="2786230" cy="307777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school or centre name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3608CBA-4F18-6AA5-1958-910E409A66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45" y="3571956"/>
            <a:ext cx="6437555" cy="1303176"/>
          </a:xfrm>
        </p:spPr>
        <p:txBody>
          <a:bodyPr anchor="t">
            <a:norm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094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purple and blue shapes&#10;&#10;Description automatically generated">
            <a:extLst>
              <a:ext uri="{FF2B5EF4-FFF2-40B4-BE49-F238E27FC236}">
                <a16:creationId xmlns:a16="http://schemas.microsoft.com/office/drawing/2014/main" id="{5732DC3C-E6A6-7953-72F1-8BFC60FA4A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r="37166" b="64769"/>
          <a:stretch/>
        </p:blipFill>
        <p:spPr>
          <a:xfrm rot="10800000">
            <a:off x="4598690" y="4976720"/>
            <a:ext cx="5997387" cy="189155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F2AAFDE-CB45-46CA-8961-8133FCA5F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0767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209C30D-AB58-482B-B553-F7136709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4" y="776941"/>
            <a:ext cx="3209008" cy="5166659"/>
          </a:xfrm>
        </p:spPr>
        <p:txBody>
          <a:bodyPr anchor="t"/>
          <a:lstStyle>
            <a:lvl1pPr>
              <a:defRPr spc="-20" baseline="0">
                <a:solidFill>
                  <a:schemeClr val="accent1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946F5EF-2C45-4A87-A1DD-BD2A6FB91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261" y="6356350"/>
            <a:ext cx="302364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B1A8891C-A2D4-4238-ABCE-62AB3A9121A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72397" y="0"/>
            <a:ext cx="3961514" cy="3429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7B51DFB6-C977-4551-BE38-57688D7FF0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232000" y="0"/>
            <a:ext cx="3960000" cy="3429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DFCFAED4-0A56-424D-BF74-4051B0BDA9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9300" y="3841750"/>
            <a:ext cx="6806692" cy="2296083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A0235C7-971D-4E52-B991-EFA44A9A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167" y="6356350"/>
            <a:ext cx="45826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44D815C-8BF3-4ECF-A945-A2A7C2983AF9}" type="slidenum">
              <a:rPr lang="en-US" smtClean="0">
                <a:latin typeface="Avenir Next LT Pro"/>
              </a:rPr>
              <a:pPr>
                <a:defRPr/>
              </a:pPr>
              <a:t>‹#›</a:t>
            </a:fld>
            <a:endParaRPr lang="en-US" dirty="0">
              <a:latin typeface="Avenir Next LT Pro"/>
            </a:endParaRP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404C8595-D235-95A7-C9F6-038784560C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70097" y="6095057"/>
            <a:ext cx="850139" cy="62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purple and blue shapes&#10;&#10;Description automatically generated">
            <a:extLst>
              <a:ext uri="{FF2B5EF4-FFF2-40B4-BE49-F238E27FC236}">
                <a16:creationId xmlns:a16="http://schemas.microsoft.com/office/drawing/2014/main" id="{E33D93A4-273E-8038-A8D7-63C6275C86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r="37166" b="64769"/>
          <a:stretch/>
        </p:blipFill>
        <p:spPr>
          <a:xfrm rot="10800000">
            <a:off x="4598690" y="4976720"/>
            <a:ext cx="5997387" cy="189155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3698AF-A86A-4D69-8272-76C9C191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28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E2DC86-4009-449C-8F4E-779A8C762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365124"/>
            <a:ext cx="9523655" cy="1501327"/>
          </a:xfrm>
        </p:spPr>
        <p:txBody>
          <a:bodyPr/>
          <a:lstStyle>
            <a:lvl1pPr>
              <a:defRPr spc="-20" baseline="0">
                <a:solidFill>
                  <a:schemeClr val="accent1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71630E1-6506-4E93-BB6A-0604E0D0493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371060"/>
            <a:ext cx="5067300" cy="448694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E115BC-4A4C-4385-82D5-106D1FAC3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9984" y="2899186"/>
            <a:ext cx="5610113" cy="328435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Graphic 5">
            <a:extLst>
              <a:ext uri="{FF2B5EF4-FFF2-40B4-BE49-F238E27FC236}">
                <a16:creationId xmlns:a16="http://schemas.microsoft.com/office/drawing/2014/main" id="{3557D5BD-E4F3-CB9B-0AFE-B4ABAD779F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70097" y="6095057"/>
            <a:ext cx="850139" cy="626418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27E3495-F674-772D-4AA5-45E84951E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261" y="6356350"/>
            <a:ext cx="3023643" cy="365125"/>
          </a:xfrm>
        </p:spPr>
        <p:txBody>
          <a:bodyPr/>
          <a:lstStyle>
            <a:lvl1pPr>
              <a:defRPr b="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31C681A-BE75-B9B0-0C98-54FF00432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167" y="6356350"/>
            <a:ext cx="458269" cy="365125"/>
          </a:xfrm>
        </p:spPr>
        <p:txBody>
          <a:bodyPr/>
          <a:lstStyle>
            <a:lvl1pPr>
              <a:defRPr b="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pPr>
              <a:defRPr/>
            </a:pPr>
            <a:fld id="{244D815C-8BF3-4ECF-A945-A2A7C2983AF9}" type="slidenum">
              <a:rPr lang="en-US" smtClean="0">
                <a:latin typeface="Avenir Next LT Pro"/>
              </a:rPr>
              <a:pPr>
                <a:defRPr/>
              </a:pPr>
              <a:t>‹#›</a:t>
            </a:fld>
            <a:endParaRPr lang="en-US" dirty="0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6EB31F-C5DF-49FF-8DEA-86AC0C186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7086597" cy="4533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FE912F-46EC-49B0-9C9A-DE9CBDF9F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45" y="753035"/>
            <a:ext cx="5945393" cy="2366683"/>
          </a:xfrm>
        </p:spPr>
        <p:txBody>
          <a:bodyPr>
            <a:normAutofit/>
          </a:bodyPr>
          <a:lstStyle>
            <a:lvl1pPr>
              <a:defRPr spc="-20" baseline="0">
                <a:solidFill>
                  <a:schemeClr val="accent1"/>
                </a:solidFill>
              </a:defRPr>
            </a:lvl1pPr>
          </a:lstStyle>
          <a:p>
            <a:r>
              <a:rPr lang="en-US" sz="6000"/>
              <a:t>Click to edit Master title style</a:t>
            </a:r>
            <a:endParaRPr lang="en-US" sz="60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BF32D81-1E24-45B8-A09D-EEAD404D8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45" y="3075868"/>
            <a:ext cx="5945393" cy="110833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F9C7900-0694-4FDF-B29C-24016C0B9C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4646428"/>
            <a:ext cx="7086598" cy="2211572"/>
          </a:xfrm>
        </p:spPr>
        <p:txBody>
          <a:bodyPr/>
          <a:lstStyle>
            <a:lvl1pPr marL="0" indent="0" algn="l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D71BA6F2-2182-4910-8DA6-71E5AB2745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88000" y="0"/>
            <a:ext cx="5004000" cy="45339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83DCD7D2-7B94-48E9-9DCA-E72E1BCE43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188000" y="4646428"/>
            <a:ext cx="5004000" cy="2196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pic>
        <p:nvPicPr>
          <p:cNvPr id="2" name="Graphic 5">
            <a:extLst>
              <a:ext uri="{FF2B5EF4-FFF2-40B4-BE49-F238E27FC236}">
                <a16:creationId xmlns:a16="http://schemas.microsoft.com/office/drawing/2014/main" id="{2FAFC6C5-0C3F-F82A-872D-16DFCA1D8B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170097" y="165521"/>
            <a:ext cx="850139" cy="62932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1F99EFD-9511-8031-0949-35DD9A6678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70097" y="168427"/>
            <a:ext cx="850139" cy="626418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2779E9-E2B5-8579-B060-E8E609A79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167" y="6356350"/>
            <a:ext cx="458269" cy="365125"/>
          </a:xfrm>
        </p:spPr>
        <p:txBody>
          <a:bodyPr/>
          <a:lstStyle>
            <a:lvl1pPr>
              <a:defRPr b="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pPr>
              <a:defRPr/>
            </a:pPr>
            <a:fld id="{244D815C-8BF3-4ECF-A945-A2A7C2983AF9}" type="slidenum">
              <a:rPr lang="en-US" smtClean="0">
                <a:latin typeface="Avenir Next LT Pro"/>
              </a:rPr>
              <a:pPr>
                <a:defRPr/>
              </a:pPr>
              <a:t>‹#›</a:t>
            </a:fld>
            <a:endParaRPr lang="en-US" dirty="0">
              <a:latin typeface="Avenir Next LT Pro"/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D059F36-F787-015B-3AA3-5577C7EAE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261" y="6356350"/>
            <a:ext cx="3023643" cy="365125"/>
          </a:xfrm>
        </p:spPr>
        <p:txBody>
          <a:bodyPr/>
          <a:lstStyle>
            <a:lvl1pPr>
              <a:defRPr b="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4F4DD58-525D-4728-A769-9F38711D5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F862FE-7A72-432B-9888-FB389D35B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788" y="875030"/>
            <a:ext cx="2384425" cy="5068570"/>
          </a:xfrm>
        </p:spPr>
        <p:txBody>
          <a:bodyPr anchor="t"/>
          <a:lstStyle>
            <a:lvl1pPr>
              <a:lnSpc>
                <a:spcPct val="100000"/>
              </a:lnSpc>
              <a:defRPr spc="-2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 to add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33DA1-34CB-434E-99AF-EA31D28A194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02000" y="876300"/>
            <a:ext cx="8607425" cy="474980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pic>
        <p:nvPicPr>
          <p:cNvPr id="6" name="Picture 5" descr="A black background with purple and blue shapes&#10;&#10;Description automatically generated">
            <a:extLst>
              <a:ext uri="{FF2B5EF4-FFF2-40B4-BE49-F238E27FC236}">
                <a16:creationId xmlns:a16="http://schemas.microsoft.com/office/drawing/2014/main" id="{3D515A6A-7778-7C06-4D92-5CD00684D5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r="37166" b="64769"/>
          <a:stretch/>
        </p:blipFill>
        <p:spPr>
          <a:xfrm rot="10800000">
            <a:off x="4598690" y="4976720"/>
            <a:ext cx="5997387" cy="1891553"/>
          </a:xfrm>
          <a:prstGeom prst="rect">
            <a:avLst/>
          </a:prstGeom>
        </p:spPr>
      </p:pic>
      <p:pic>
        <p:nvPicPr>
          <p:cNvPr id="9" name="Graphic 5">
            <a:extLst>
              <a:ext uri="{FF2B5EF4-FFF2-40B4-BE49-F238E27FC236}">
                <a16:creationId xmlns:a16="http://schemas.microsoft.com/office/drawing/2014/main" id="{340DC453-DD3A-4FE9-A00F-E6C8E3DB04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70097" y="6095057"/>
            <a:ext cx="850139" cy="626418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D85730E-7CF3-17D6-BBA1-4E951BA87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261" y="6356350"/>
            <a:ext cx="3023643" cy="3651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4F00366-6E4B-3F54-80A3-0F93F3C2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167" y="6356350"/>
            <a:ext cx="458269" cy="3651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>
              <a:defRPr/>
            </a:pPr>
            <a:fld id="{244D815C-8BF3-4ECF-A945-A2A7C2983AF9}" type="slidenum">
              <a:rPr lang="en-US" smtClean="0">
                <a:latin typeface="Avenir Next LT Pro"/>
              </a:rPr>
              <a:pPr>
                <a:defRPr/>
              </a:pPr>
              <a:t>‹#›</a:t>
            </a:fld>
            <a:endParaRPr lang="en-US" dirty="0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3FEABB-56CC-491D-830B-02C0466DA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B58015FB-742D-FCCD-0657-F2451440A0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788" y="875030"/>
            <a:ext cx="2384425" cy="5068570"/>
          </a:xfrm>
        </p:spPr>
        <p:txBody>
          <a:bodyPr anchor="t"/>
          <a:lstStyle>
            <a:lvl1pPr>
              <a:lnSpc>
                <a:spcPct val="100000"/>
              </a:lnSpc>
              <a:defRPr spc="-2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 to add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089D550-F3D0-6439-DFA3-76123A87ED1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02000" y="876300"/>
            <a:ext cx="8607425" cy="474980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pic>
        <p:nvPicPr>
          <p:cNvPr id="3" name="Picture 2" descr="A black background with purple and blue shapes&#10;&#10;Description automatically generated">
            <a:extLst>
              <a:ext uri="{FF2B5EF4-FFF2-40B4-BE49-F238E27FC236}">
                <a16:creationId xmlns:a16="http://schemas.microsoft.com/office/drawing/2014/main" id="{9AC52D5E-F988-AF9F-E02E-A591897F12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r="37166" b="64769"/>
          <a:stretch/>
        </p:blipFill>
        <p:spPr>
          <a:xfrm rot="10800000">
            <a:off x="4598690" y="4976720"/>
            <a:ext cx="5997387" cy="1891553"/>
          </a:xfrm>
          <a:prstGeom prst="rect">
            <a:avLst/>
          </a:prstGeom>
        </p:spPr>
      </p:pic>
      <p:pic>
        <p:nvPicPr>
          <p:cNvPr id="12" name="Graphic 5">
            <a:extLst>
              <a:ext uri="{FF2B5EF4-FFF2-40B4-BE49-F238E27FC236}">
                <a16:creationId xmlns:a16="http://schemas.microsoft.com/office/drawing/2014/main" id="{1226C0AD-3C54-4C91-E3EF-D39F651EDF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70097" y="6095057"/>
            <a:ext cx="850139" cy="626418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6C02968-DD18-3E2B-24F5-4E93BEF2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261" y="6356350"/>
            <a:ext cx="3023643" cy="3651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7466D1B-62C0-4949-B87F-88D5B3997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167" y="6356350"/>
            <a:ext cx="458269" cy="3651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>
              <a:defRPr/>
            </a:pPr>
            <a:fld id="{244D815C-8BF3-4ECF-A945-A2A7C2983AF9}" type="slidenum">
              <a:rPr lang="en-US" smtClean="0">
                <a:latin typeface="Avenir Next LT Pro"/>
              </a:rPr>
              <a:pPr>
                <a:defRPr/>
              </a:pPr>
              <a:t>‹#›</a:t>
            </a:fld>
            <a:endParaRPr lang="en-US" dirty="0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AD3C5B21-C400-4C50-8684-59543CDC43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6886224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81B040C-8943-4433-BFE9-AFB1F7C9E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7636" y="-2"/>
            <a:ext cx="11014364" cy="4100947"/>
          </a:xfrm>
          <a:gradFill>
            <a:gsLst>
              <a:gs pos="77000">
                <a:srgbClr val="000000">
                  <a:alpha val="30000"/>
                </a:srgbClr>
              </a:gs>
              <a:gs pos="38000">
                <a:srgbClr val="000000">
                  <a:alpha val="20000"/>
                </a:srgbClr>
              </a:gs>
              <a:gs pos="0">
                <a:srgbClr val="000000">
                  <a:alpha val="0"/>
                </a:srgbClr>
              </a:gs>
              <a:gs pos="2000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21594000" scaled="0"/>
          </a:gradFill>
        </p:spPr>
        <p:txBody>
          <a:bodyPr rIns="731520">
            <a:normAutofit/>
          </a:bodyPr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to edit Master title style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41A6711-44B3-4723-90E5-802B2DBD8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1963" y="4089656"/>
            <a:ext cx="8950035" cy="2796566"/>
          </a:xfrm>
          <a:gradFill>
            <a:gsLst>
              <a:gs pos="77000">
                <a:srgbClr val="000000">
                  <a:alpha val="30000"/>
                </a:srgbClr>
              </a:gs>
              <a:gs pos="33000">
                <a:srgbClr val="000000">
                  <a:alpha val="2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21594000" scaled="0"/>
          </a:gradFill>
        </p:spPr>
        <p:txBody>
          <a:bodyPr tIns="640080" rIns="731520" anchor="t">
            <a:normAutofit/>
          </a:bodyPr>
          <a:lstStyle>
            <a:lvl1pPr marL="0" indent="0" algn="r">
              <a:buNone/>
              <a:defRPr sz="2800" b="0" baseline="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to edit Master subtitle style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36AB4FB-5A30-4F68-D5FD-12BC17DE9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261" y="6356350"/>
            <a:ext cx="3023643" cy="365125"/>
          </a:xfrm>
        </p:spPr>
        <p:txBody>
          <a:bodyPr/>
          <a:lstStyle>
            <a:lvl1pPr>
              <a:defRPr b="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96BBEB-1D8F-A6CB-7A8F-FC1DBC044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167" y="6356350"/>
            <a:ext cx="458269" cy="365125"/>
          </a:xfrm>
        </p:spPr>
        <p:txBody>
          <a:bodyPr/>
          <a:lstStyle>
            <a:lvl1pPr>
              <a:defRPr b="0" cap="none" spc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pPr>
              <a:defRPr/>
            </a:pPr>
            <a:fld id="{244D815C-8BF3-4ECF-A945-A2A7C2983AF9}" type="slidenum">
              <a:rPr lang="en-US" smtClean="0">
                <a:latin typeface="Avenir Next LT Pro"/>
              </a:rPr>
              <a:pPr>
                <a:defRPr/>
              </a:pPr>
              <a:t>‹#›</a:t>
            </a:fld>
            <a:endParaRPr lang="en-US" dirty="0">
              <a:latin typeface="Avenir Next LT Pro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0F4BEDF-9827-30E8-9C25-986ABB25D4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170097" y="168427"/>
            <a:ext cx="850139" cy="62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A42DEE-636F-4A79-B56A-5AF989E1F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75C9195-04C9-4D9A-B613-44A5F5900D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33" y="194783"/>
            <a:ext cx="9421177" cy="769493"/>
          </a:xfrm>
        </p:spPr>
        <p:txBody>
          <a:bodyPr anchor="ctr"/>
          <a:lstStyle>
            <a:lvl1pPr>
              <a:lnSpc>
                <a:spcPct val="100000"/>
              </a:lnSpc>
              <a:defRPr spc="-2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C5A662A-E279-494E-8389-ADC6E870E38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2933" y="1695450"/>
            <a:ext cx="10257155" cy="4314825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pic>
        <p:nvPicPr>
          <p:cNvPr id="5" name="Picture 4" descr="A black background with purple and blue shapes&#10;&#10;Description automatically generated">
            <a:extLst>
              <a:ext uri="{FF2B5EF4-FFF2-40B4-BE49-F238E27FC236}">
                <a16:creationId xmlns:a16="http://schemas.microsoft.com/office/drawing/2014/main" id="{70A96CB4-43C7-1920-DB44-CAC3EA08FC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r="37166" b="64769"/>
          <a:stretch/>
        </p:blipFill>
        <p:spPr>
          <a:xfrm rot="10800000">
            <a:off x="4598690" y="4976720"/>
            <a:ext cx="5997387" cy="1891553"/>
          </a:xfrm>
          <a:prstGeom prst="rect">
            <a:avLst/>
          </a:prstGeom>
        </p:spPr>
      </p:pic>
      <p:pic>
        <p:nvPicPr>
          <p:cNvPr id="12" name="Graphic 5">
            <a:extLst>
              <a:ext uri="{FF2B5EF4-FFF2-40B4-BE49-F238E27FC236}">
                <a16:creationId xmlns:a16="http://schemas.microsoft.com/office/drawing/2014/main" id="{2C36FDA1-7A27-A64E-E81D-06E2BE1D54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70097" y="6095057"/>
            <a:ext cx="850139" cy="626418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2DA1EFE-9A4B-185B-80A6-46B940A95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261" y="6356350"/>
            <a:ext cx="3023643" cy="3651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B58340C-5EB7-ECDC-A848-9066D5D4A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167" y="6356350"/>
            <a:ext cx="458269" cy="3651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fld id="{244D815C-8BF3-4ECF-A945-A2A7C2983AF9}" type="slidenum">
              <a:rPr lang="en-US" smtClean="0">
                <a:latin typeface="Avenir Next LT Pro"/>
              </a:rPr>
              <a:pPr>
                <a:defRPr/>
              </a:pPr>
              <a:t>‹#›</a:t>
            </a:fld>
            <a:endParaRPr lang="en-US" dirty="0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A42DEE-636F-4A79-B56A-5AF989E1F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43D59024-D21F-46A9-B65B-C9166E4E30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6083" y="2339390"/>
            <a:ext cx="2075688" cy="2075688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3">
            <a:extLst>
              <a:ext uri="{FF2B5EF4-FFF2-40B4-BE49-F238E27FC236}">
                <a16:creationId xmlns:a16="http://schemas.microsoft.com/office/drawing/2014/main" id="{C929A99D-6C0C-468B-854A-FF1CC91260E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20384" y="2339390"/>
            <a:ext cx="2075688" cy="2075688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60F12D74-CCEB-4CE6-A979-072265047F7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4685" y="2339390"/>
            <a:ext cx="2075688" cy="2075688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6A481ED4-1444-4E48-A31E-B2624CF536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70228" y="2339390"/>
            <a:ext cx="2075688" cy="2075688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1FCF4CD5-BF81-4AEB-BE4A-D07274F666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46083" y="4628543"/>
            <a:ext cx="2075688" cy="3476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20" baseline="0">
                <a:solidFill>
                  <a:schemeClr val="accent5"/>
                </a:solidFill>
                <a:latin typeface="Public Sans" pitchFamily="2" charset="77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68146790-CD56-4671-AD13-89B30FAF55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46083" y="4934031"/>
            <a:ext cx="2075688" cy="3476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spc="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305877BA-4DF5-499D-9288-3956FC9B1B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20384" y="4628543"/>
            <a:ext cx="2075688" cy="3476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20" baseline="0">
                <a:solidFill>
                  <a:schemeClr val="accent5"/>
                </a:solidFill>
                <a:latin typeface="Public Sans" pitchFamily="2" charset="77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22E6E064-1B6D-455F-98A9-1A851E3FE1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20384" y="4934031"/>
            <a:ext cx="2075688" cy="3476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spc="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28">
            <a:extLst>
              <a:ext uri="{FF2B5EF4-FFF2-40B4-BE49-F238E27FC236}">
                <a16:creationId xmlns:a16="http://schemas.microsoft.com/office/drawing/2014/main" id="{76F0A93D-9B44-4CF6-87AF-4B5200AF2C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4685" y="4628543"/>
            <a:ext cx="2075688" cy="3476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20" baseline="0">
                <a:solidFill>
                  <a:schemeClr val="accent5"/>
                </a:solidFill>
                <a:latin typeface="Public Sans" pitchFamily="2" charset="77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28">
            <a:extLst>
              <a:ext uri="{FF2B5EF4-FFF2-40B4-BE49-F238E27FC236}">
                <a16:creationId xmlns:a16="http://schemas.microsoft.com/office/drawing/2014/main" id="{550B9205-0F01-47B9-9C79-42EB1E22C9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4685" y="4934031"/>
            <a:ext cx="2075688" cy="3476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spc="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8FC1F3E1-C69F-4835-A5CD-929BD175AF1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70228" y="4628543"/>
            <a:ext cx="2075688" cy="3476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20" baseline="0">
                <a:solidFill>
                  <a:schemeClr val="accent5"/>
                </a:solidFill>
                <a:latin typeface="Public Sans" pitchFamily="2" charset="77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8">
            <a:extLst>
              <a:ext uri="{FF2B5EF4-FFF2-40B4-BE49-F238E27FC236}">
                <a16:creationId xmlns:a16="http://schemas.microsoft.com/office/drawing/2014/main" id="{457972FF-3484-4C00-A636-0F208F816C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70228" y="4934031"/>
            <a:ext cx="2075688" cy="3476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spc="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pic>
        <p:nvPicPr>
          <p:cNvPr id="5" name="Picture 4" descr="A black background with purple and blue shapes&#10;&#10;Description automatically generated">
            <a:extLst>
              <a:ext uri="{FF2B5EF4-FFF2-40B4-BE49-F238E27FC236}">
                <a16:creationId xmlns:a16="http://schemas.microsoft.com/office/drawing/2014/main" id="{A1D6C573-5658-A891-478B-E9A70FB299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r="37166" b="64769"/>
          <a:stretch/>
        </p:blipFill>
        <p:spPr>
          <a:xfrm rot="10800000">
            <a:off x="4598690" y="4976720"/>
            <a:ext cx="5997387" cy="1891553"/>
          </a:xfrm>
          <a:prstGeom prst="rect">
            <a:avLst/>
          </a:prstGeom>
        </p:spPr>
      </p:pic>
      <p:pic>
        <p:nvPicPr>
          <p:cNvPr id="23" name="Graphic 5">
            <a:extLst>
              <a:ext uri="{FF2B5EF4-FFF2-40B4-BE49-F238E27FC236}">
                <a16:creationId xmlns:a16="http://schemas.microsoft.com/office/drawing/2014/main" id="{4404576C-DCE2-A9C1-3E95-8734B51171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70097" y="6095057"/>
            <a:ext cx="850139" cy="626418"/>
          </a:xfrm>
          <a:prstGeom prst="rect">
            <a:avLst/>
          </a:prstGeom>
        </p:spPr>
      </p:pic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4A0B6259-1E42-F729-B0B0-D3B89B21C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261" y="6356350"/>
            <a:ext cx="3023643" cy="3651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EAE9A300-1CE0-1A2F-943E-663802655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167" y="6356350"/>
            <a:ext cx="458269" cy="3651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fld id="{244D815C-8BF3-4ECF-A945-A2A7C2983AF9}" type="slidenum">
              <a:rPr lang="en-US" smtClean="0">
                <a:latin typeface="Avenir Next LT Pro"/>
              </a:rPr>
              <a:pPr>
                <a:defRPr/>
              </a:pPr>
              <a:t>‹#›</a:t>
            </a:fld>
            <a:endParaRPr lang="en-US" dirty="0">
              <a:latin typeface="Avenir Next LT Pro"/>
            </a:endParaRPr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F7E1C9E0-813C-A444-E43D-55541BF98B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33" y="194783"/>
            <a:ext cx="9421177" cy="769493"/>
          </a:xfrm>
        </p:spPr>
        <p:txBody>
          <a:bodyPr anchor="ctr"/>
          <a:lstStyle>
            <a:lvl1pPr>
              <a:lnSpc>
                <a:spcPct val="100000"/>
              </a:lnSpc>
              <a:defRPr spc="-2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7361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purple and blue shapes&#10;&#10;Description automatically generated">
            <a:extLst>
              <a:ext uri="{FF2B5EF4-FFF2-40B4-BE49-F238E27FC236}">
                <a16:creationId xmlns:a16="http://schemas.microsoft.com/office/drawing/2014/main" id="{061B1357-DB1D-15B7-B6F6-486BE47B58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r="37166" b="64769"/>
          <a:stretch/>
        </p:blipFill>
        <p:spPr>
          <a:xfrm rot="10800000">
            <a:off x="4598690" y="4976720"/>
            <a:ext cx="5997387" cy="18915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F922A0-5527-4314-A2EA-E5CF34EF9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3FA4250-BD33-40AE-934A-A473029C5CA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2933" y="1560513"/>
            <a:ext cx="10022842" cy="43418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pic>
        <p:nvPicPr>
          <p:cNvPr id="12" name="Graphic 5">
            <a:extLst>
              <a:ext uri="{FF2B5EF4-FFF2-40B4-BE49-F238E27FC236}">
                <a16:creationId xmlns:a16="http://schemas.microsoft.com/office/drawing/2014/main" id="{CB74250B-9555-D67F-AF19-D034D3BDA7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70097" y="6095057"/>
            <a:ext cx="850139" cy="626418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98BA17B-2166-E6F9-6ED4-E408C68BA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261" y="6356350"/>
            <a:ext cx="3023643" cy="3651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279B1A2-C54F-3AB8-3731-4C2318993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167" y="6356350"/>
            <a:ext cx="458269" cy="3651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fld id="{244D815C-8BF3-4ECF-A945-A2A7C2983AF9}" type="slidenum">
              <a:rPr lang="en-US" smtClean="0">
                <a:latin typeface="Avenir Next LT Pro"/>
              </a:rPr>
              <a:pPr>
                <a:defRPr/>
              </a:pPr>
              <a:t>‹#›</a:t>
            </a:fld>
            <a:endParaRPr lang="en-US" dirty="0">
              <a:latin typeface="Avenir Next LT Pro"/>
            </a:endParaRPr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4FBB69B1-FC19-D66F-9703-B573DBAAB8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33" y="194783"/>
            <a:ext cx="9421177" cy="769493"/>
          </a:xfrm>
        </p:spPr>
        <p:txBody>
          <a:bodyPr anchor="ctr"/>
          <a:lstStyle>
            <a:lvl1pPr>
              <a:lnSpc>
                <a:spcPct val="100000"/>
              </a:lnSpc>
              <a:defRPr spc="-2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purple and blue shapes&#10;&#10;Description automatically generated">
            <a:extLst>
              <a:ext uri="{FF2B5EF4-FFF2-40B4-BE49-F238E27FC236}">
                <a16:creationId xmlns:a16="http://schemas.microsoft.com/office/drawing/2014/main" id="{00B132FB-DBF0-910D-0B59-FCD7C8CAD8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r="37166" b="64769"/>
          <a:stretch/>
        </p:blipFill>
        <p:spPr>
          <a:xfrm rot="10800000">
            <a:off x="4598690" y="4976720"/>
            <a:ext cx="5997387" cy="189155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F516FD-E4AF-4BA2-902A-DA4674655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7F0BA818-CA3B-46FD-9A79-7BDC1D9CA7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0076" y="1764139"/>
            <a:ext cx="4756714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4EAD007E-B9BB-4C9F-BDC8-127A77F0F9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0076" y="2374900"/>
            <a:ext cx="4756714" cy="336550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9ECBA1DE-781A-4AA7-86CA-0EBE52A9B4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363" y="1764031"/>
            <a:ext cx="4756714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53A9CA10-3BBC-41E7-A34E-C6CCFEC820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39363" y="2374900"/>
            <a:ext cx="4756714" cy="336550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5">
            <a:extLst>
              <a:ext uri="{FF2B5EF4-FFF2-40B4-BE49-F238E27FC236}">
                <a16:creationId xmlns:a16="http://schemas.microsoft.com/office/drawing/2014/main" id="{1AF76B63-818E-9850-5F1A-A9E5418F2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70097" y="6095057"/>
            <a:ext cx="850139" cy="626418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EEBC63A-2A43-B606-5E4F-58DB0155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261" y="6356350"/>
            <a:ext cx="3023643" cy="3651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7143AEB-DC90-2C81-A218-1DE0BF0A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167" y="6356350"/>
            <a:ext cx="458269" cy="3651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fld id="{244D815C-8BF3-4ECF-A945-A2A7C2983AF9}" type="slidenum">
              <a:rPr lang="en-US" smtClean="0">
                <a:latin typeface="Avenir Next LT Pro"/>
              </a:rPr>
              <a:pPr>
                <a:defRPr/>
              </a:pPr>
              <a:t>‹#›</a:t>
            </a:fld>
            <a:endParaRPr lang="en-US" dirty="0">
              <a:latin typeface="Avenir Next LT Pro"/>
            </a:endParaRPr>
          </a:p>
        </p:txBody>
      </p:sp>
      <p:sp>
        <p:nvSpPr>
          <p:cNvPr id="3" name="Title 9">
            <a:extLst>
              <a:ext uri="{FF2B5EF4-FFF2-40B4-BE49-F238E27FC236}">
                <a16:creationId xmlns:a16="http://schemas.microsoft.com/office/drawing/2014/main" id="{EE93A12C-593B-1145-E6ED-4E8028A296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33" y="194783"/>
            <a:ext cx="9421177" cy="769493"/>
          </a:xfrm>
        </p:spPr>
        <p:txBody>
          <a:bodyPr anchor="ctr"/>
          <a:lstStyle>
            <a:lvl1pPr>
              <a:lnSpc>
                <a:spcPct val="100000"/>
              </a:lnSpc>
              <a:defRPr spc="-2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purple and blue shapes&#10;&#10;Description automatically generated">
            <a:extLst>
              <a:ext uri="{FF2B5EF4-FFF2-40B4-BE49-F238E27FC236}">
                <a16:creationId xmlns:a16="http://schemas.microsoft.com/office/drawing/2014/main" id="{C693B03E-B828-7253-D9F3-845A06D049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r="37166" b="64769"/>
          <a:stretch/>
        </p:blipFill>
        <p:spPr>
          <a:xfrm rot="10800000">
            <a:off x="4598690" y="4976720"/>
            <a:ext cx="5997387" cy="18915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E97352E-C52D-43BE-BCE2-2D71FE035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F4C4703-C9D4-483C-8E41-17BB7193D0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040" y="1764193"/>
            <a:ext cx="3327366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7393281D-B77A-4BB8-A3E2-49E0F1259D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2933" y="2374899"/>
            <a:ext cx="3327366" cy="3485573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6B205DED-723B-48E3-AE9F-556696225C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14083" y="1764193"/>
            <a:ext cx="3327366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77D63D24-8466-44F3-898F-5CBC42C768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083" y="2374899"/>
            <a:ext cx="3327366" cy="3485573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F600D1D1-B6A8-4A4E-BC6A-897FE089CB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25393" y="1764193"/>
            <a:ext cx="3327366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205F643-67E9-4E41-A65F-163C816090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25393" y="2374899"/>
            <a:ext cx="3327366" cy="3485573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7" name="Graphic 5">
            <a:extLst>
              <a:ext uri="{FF2B5EF4-FFF2-40B4-BE49-F238E27FC236}">
                <a16:creationId xmlns:a16="http://schemas.microsoft.com/office/drawing/2014/main" id="{32AA60A5-98E9-FE91-2C19-A6CADEB8F9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70097" y="6095057"/>
            <a:ext cx="850139" cy="626418"/>
          </a:xfrm>
          <a:prstGeom prst="rect">
            <a:avLst/>
          </a:prstGeom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07A59EC1-81F4-1E6B-0B82-5388D2403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261" y="6356350"/>
            <a:ext cx="3023643" cy="3651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6792270-C9CE-2CBB-2B65-C9A7D4917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167" y="6356350"/>
            <a:ext cx="458269" cy="3651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fld id="{244D815C-8BF3-4ECF-A945-A2A7C2983AF9}" type="slidenum">
              <a:rPr lang="en-US" smtClean="0">
                <a:latin typeface="Avenir Next LT Pro"/>
              </a:rPr>
              <a:pPr>
                <a:defRPr/>
              </a:pPr>
              <a:t>‹#›</a:t>
            </a:fld>
            <a:endParaRPr lang="en-US" dirty="0">
              <a:latin typeface="Avenir Next LT Pro"/>
            </a:endParaRPr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9ED0C4C3-531E-F69E-EC33-6B41062EE7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33" y="194783"/>
            <a:ext cx="9421177" cy="769493"/>
          </a:xfrm>
        </p:spPr>
        <p:txBody>
          <a:bodyPr anchor="ctr"/>
          <a:lstStyle>
            <a:lvl1pPr>
              <a:lnSpc>
                <a:spcPct val="100000"/>
              </a:lnSpc>
              <a:defRPr spc="-2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52F41C-45C5-4E09-A91A-8F4AE80B0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33900"/>
            <a:ext cx="9144000" cy="2324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DA9EBEF3-E8A8-4C5C-B6D9-B322242DC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563" y="5004463"/>
            <a:ext cx="7700617" cy="1409037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sz="5400"/>
              <a:t>Click to edit Master title style</a:t>
            </a:r>
            <a:endParaRPr lang="en-US" sz="5400" dirty="0"/>
          </a:p>
        </p:txBody>
      </p:sp>
      <p:sp>
        <p:nvSpPr>
          <p:cNvPr id="11" name="Subtitle 7">
            <a:extLst>
              <a:ext uri="{FF2B5EF4-FFF2-40B4-BE49-F238E27FC236}">
                <a16:creationId xmlns:a16="http://schemas.microsoft.com/office/drawing/2014/main" id="{6A90C83B-4674-4CF1-9CD4-78C3B7CDC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6252" y="1295399"/>
            <a:ext cx="2443495" cy="284992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</a:lstStyle>
          <a:p>
            <a:r>
              <a:rPr lang="en-US">
                <a:solidFill>
                  <a:schemeClr val="accent1"/>
                </a:solidFill>
              </a:rPr>
              <a:t>Click to edit Master subtitle style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1894E094-44B9-4024-A43A-438DEB225DB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44456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919568B3-FE67-4E6E-BA92-FEF29CBFE1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253451" y="4532313"/>
            <a:ext cx="2938549" cy="232568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pic>
        <p:nvPicPr>
          <p:cNvPr id="2" name="Graphic 5">
            <a:extLst>
              <a:ext uri="{FF2B5EF4-FFF2-40B4-BE49-F238E27FC236}">
                <a16:creationId xmlns:a16="http://schemas.microsoft.com/office/drawing/2014/main" id="{849160D3-4656-5133-C8CB-9B89482CAA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170097" y="262024"/>
            <a:ext cx="850139" cy="62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67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Public Sans" pitchFamily="2" charset="77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Public Sans" pitchFamily="2" charset="77"/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C6238D-DE31-D9B6-81EF-9454BC8F30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78438" y="6611620"/>
            <a:ext cx="16668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ECU Internal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7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86" r:id="rId10"/>
    <p:sldLayoutId id="2147483657" r:id="rId11"/>
    <p:sldLayoutId id="2147483658" r:id="rId12"/>
    <p:sldLayoutId id="2147483659" r:id="rId13"/>
    <p:sldLayoutId id="214748368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Public Sans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Public Sans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Public Sans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Public Sans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Public Sans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Public Sa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ommunities.springernature.com/posts/llms-and-ai-agents-transforming-scientific-forecasting" TargetMode="Externa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arxiv.org/pdf/2510.09901v2" TargetMode="Externa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8D150CF-F888-48EA-89E8-311ED5E916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724" y="1298458"/>
            <a:ext cx="7699366" cy="134816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Public Sans"/>
              </a:rPr>
              <a:t>Principal Supervisor Accreditation Program </a:t>
            </a:r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BBE0348-1527-4055-BA8A-E27542227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95" y="5125659"/>
            <a:ext cx="6437555" cy="1303176"/>
          </a:xfrm>
        </p:spPr>
        <p:txBody>
          <a:bodyPr/>
          <a:lstStyle/>
          <a:p>
            <a:r>
              <a:rPr lang="en-US" dirty="0"/>
              <a:t>Dr. Ahmad Mohsin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33E67C0-6C95-48DB-97CC-8CE8D36C05F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235" r="5235"/>
          <a:stretch/>
        </p:blipFill>
        <p:spPr/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084C37-CC69-BB36-1CC0-509DE99626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School of Science, Center for Securing Digital Futures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03B871-F617-6FDF-443D-5A028DAAE108}"/>
              </a:ext>
            </a:extLst>
          </p:cNvPr>
          <p:cNvSpPr txBox="1">
            <a:spLocks/>
          </p:cNvSpPr>
          <p:nvPr/>
        </p:nvSpPr>
        <p:spPr>
          <a:xfrm>
            <a:off x="0" y="4211382"/>
            <a:ext cx="8298701" cy="14996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b="1" kern="1200" spc="-20" baseline="0">
                <a:solidFill>
                  <a:schemeClr val="accent1"/>
                </a:solidFill>
                <a:latin typeface="Public Sans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latin typeface="Public Sans"/>
              </a:rPr>
              <a:t>AI in Academic Research</a:t>
            </a:r>
          </a:p>
        </p:txBody>
      </p:sp>
    </p:spTree>
    <p:extLst>
      <p:ext uri="{BB962C8B-B14F-4D97-AF65-F5344CB8AC3E}">
        <p14:creationId xmlns:p14="http://schemas.microsoft.com/office/powerpoint/2010/main" val="2720718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E290B-5E5C-BA55-F167-CA9B4151B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44" y="958967"/>
            <a:ext cx="10552176" cy="1499616"/>
          </a:xfrm>
        </p:spPr>
        <p:txBody>
          <a:bodyPr/>
          <a:lstStyle/>
          <a:p>
            <a:r>
              <a:rPr lang="en-US" dirty="0"/>
              <a:t>Gen AI in Academic Research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AEDF1-E21F-3F86-DBD9-2F1EA40147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School of Science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66900C5-5050-6196-ADF6-33498B430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365" y="2952196"/>
            <a:ext cx="9140115" cy="1303176"/>
          </a:xfrm>
        </p:spPr>
        <p:txBody>
          <a:bodyPr/>
          <a:lstStyle/>
          <a:p>
            <a:r>
              <a:rPr lang="en-US" dirty="0">
                <a:latin typeface="Public Sans"/>
              </a:rPr>
              <a:t>A perspective for Supervisors and HDR Students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446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F2FEA60-F900-4C56-9486-48EA3092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1"/>
                </a:solidFill>
              </a:rPr>
              <a:t>What is Gen AI: A Researcher Perspective? </a:t>
            </a:r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AB6583FE-B653-4C01-9ADF-EC8514A0B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4105" y="2748682"/>
            <a:ext cx="5610113" cy="3284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i="1" dirty="0"/>
              <a:t>“Generative AI in Research utilises advanced models such as LLMs to generate content, significantly accelerating scientific discovery, enhancing creativity, and optimizing research workflows. It supports a wide range of applications, such as data generation, hypothesis development, literature review, and the production of novel research materials, streamlining complex processes across diverse academic disciplines”.</a:t>
            </a:r>
            <a:endParaRPr lang="en-AU" sz="1800" i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DA17F-F303-4811-96C4-AD8A09ABE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8B9AF-847F-4250-A53B-82D9036A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44D815C-8BF3-4ECF-A945-A2A7C2983AF9}" type="slidenum">
              <a:rPr lang="en-US" noProof="0" smtClean="0"/>
              <a:pPr lvl="0"/>
              <a:t>3</a:t>
            </a:fld>
            <a:endParaRPr lang="en-US" noProof="0" dirty="0"/>
          </a:p>
        </p:txBody>
      </p:sp>
      <p:pic>
        <p:nvPicPr>
          <p:cNvPr id="6" name="Picture Placeholder 5" descr="A person sitting at a table with a robot&#10;&#10;Description automatically generated">
            <a:extLst>
              <a:ext uri="{FF2B5EF4-FFF2-40B4-BE49-F238E27FC236}">
                <a16:creationId xmlns:a16="http://schemas.microsoft.com/office/drawing/2014/main" id="{66E23A25-2B27-82C7-25FF-690DCC23303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3" b="5733"/>
          <a:stretch>
            <a:fillRect/>
          </a:stretch>
        </p:blipFill>
        <p:spPr>
          <a:xfrm>
            <a:off x="503436" y="2774212"/>
            <a:ext cx="3271516" cy="25043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4E3A77-F471-8253-7D7A-F96CD5A31CF2}"/>
              </a:ext>
            </a:extLst>
          </p:cNvPr>
          <p:cNvSpPr txBox="1"/>
          <p:nvPr/>
        </p:nvSpPr>
        <p:spPr>
          <a:xfrm>
            <a:off x="715589" y="5552750"/>
            <a:ext cx="2908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Human- AI Collaboration </a:t>
            </a:r>
            <a:endParaRPr lang="en-AU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92DFA7-BDB3-85B9-CBDE-AC28DC65EC12}"/>
              </a:ext>
            </a:extLst>
          </p:cNvPr>
          <p:cNvSpPr txBox="1"/>
          <p:nvPr/>
        </p:nvSpPr>
        <p:spPr>
          <a:xfrm>
            <a:off x="45167" y="6356350"/>
            <a:ext cx="99079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rgbClr val="002060"/>
                </a:solidFill>
              </a:rPr>
              <a:t>Adopted from various articles and online sources during the development of this presentation</a:t>
            </a:r>
            <a:endParaRPr lang="en-AU" sz="1100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75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F0E72-3320-16B9-6015-1F6B1AC1E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88" y="875030"/>
            <a:ext cx="2384425" cy="506857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Use of Gen AI in Australian universities</a:t>
            </a:r>
            <a:endParaRPr lang="en-AU" sz="3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ADFBF-C90A-C318-FB9C-3B07D5F1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261" y="6356350"/>
            <a:ext cx="302364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AU" b="1"/>
              <a:t>(Paula McDonald et al., 2024)</a:t>
            </a:r>
            <a:endParaRPr lang="en-US" b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346B6-F3BB-D8E5-CFC7-619A083C3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167" y="6356350"/>
            <a:ext cx="45826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244D815C-8BF3-4ECF-A945-A2A7C2983AF9}" type="slidenum">
              <a:rPr lang="en-US" smtClean="0"/>
              <a:pPr>
                <a:spcAft>
                  <a:spcPts val="600"/>
                </a:spcAft>
                <a:defRPr/>
              </a:pPr>
              <a:t>4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2FFBA9F-6314-D62C-65B8-2CA44E8F6CD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272330940"/>
              </p:ext>
            </p:extLst>
          </p:nvPr>
        </p:nvGraphicFramePr>
        <p:xfrm>
          <a:off x="3302000" y="876300"/>
          <a:ext cx="8607425" cy="4749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9929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DE4C8-C57B-D12B-C9F8-E17E9E621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88" y="875030"/>
            <a:ext cx="2384425" cy="5068570"/>
          </a:xfrm>
        </p:spPr>
        <p:txBody>
          <a:bodyPr anchor="t">
            <a:normAutofit/>
          </a:bodyPr>
          <a:lstStyle/>
          <a:p>
            <a:r>
              <a:rPr lang="en-US" sz="3400" b="1" kern="1200"/>
              <a:t>How are Researchers using AI?</a:t>
            </a:r>
            <a:endParaRPr lang="en-AU" sz="3400"/>
          </a:p>
        </p:txBody>
      </p:sp>
      <p:pic>
        <p:nvPicPr>
          <p:cNvPr id="7" name="Picture 2" descr="Fig. 2">
            <a:extLst>
              <a:ext uri="{FF2B5EF4-FFF2-40B4-BE49-F238E27FC236}">
                <a16:creationId xmlns:a16="http://schemas.microsoft.com/office/drawing/2014/main" id="{9CCDA254-71BB-825E-550E-27B57ADC8374}"/>
              </a:ext>
            </a:extLst>
          </p:cNvPr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57" r="2" b="8845"/>
          <a:stretch>
            <a:fillRect/>
          </a:stretch>
        </p:blipFill>
        <p:spPr bwMode="auto">
          <a:xfrm>
            <a:off x="3302000" y="876300"/>
            <a:ext cx="8607425" cy="4749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6390D-50B5-DBAB-3BD0-A09B9C3D4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261" y="6356350"/>
            <a:ext cx="302364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AU" b="1" i="0">
                <a:effectLst/>
              </a:rPr>
              <a:t>(Mohamed Khalifa et al., 2024)</a:t>
            </a:r>
            <a:endParaRPr lang="en-US" b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0B05F-2BF7-645B-EE74-F1D38B248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167" y="6356350"/>
            <a:ext cx="45826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244D815C-8BF3-4ECF-A945-A2A7C2983AF9}" type="slidenum">
              <a:rPr lang="en-US" smtClean="0"/>
              <a:pPr>
                <a:spcAft>
                  <a:spcPts val="600"/>
                </a:spcAft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20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DAE49-B08A-3E20-5384-5D46A59DC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365124"/>
            <a:ext cx="10608427" cy="1501327"/>
          </a:xfrm>
        </p:spPr>
        <p:txBody>
          <a:bodyPr/>
          <a:lstStyle/>
          <a:p>
            <a:r>
              <a:rPr lang="en-US" dirty="0"/>
              <a:t>AI: Innovation and Discovery in Research 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5E863-D3DA-DDBA-B539-1D5A9557B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DA260-A969-96D1-D5B8-FA09C93B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4D815C-8BF3-4ECF-A945-A2A7C2983AF9}" type="slidenum">
              <a:rPr lang="en-US" smtClean="0">
                <a:latin typeface="Avenir Next LT Pro"/>
              </a:rPr>
              <a:pPr>
                <a:defRPr/>
              </a:pPr>
              <a:t>6</a:t>
            </a:fld>
            <a:endParaRPr lang="en-US" dirty="0">
              <a:latin typeface="Avenir Next LT Pr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1B6B8B-2C33-6A6B-8103-B165A8D43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01" y="2406637"/>
            <a:ext cx="5467667" cy="41948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75CAC7-2AD7-FD2F-99C3-DC25F9290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5074" y="2345305"/>
            <a:ext cx="4901131" cy="25350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3A27FD-612D-1166-327C-DE1F50287E00}"/>
              </a:ext>
            </a:extLst>
          </p:cNvPr>
          <p:cNvSpPr txBox="1"/>
          <p:nvPr/>
        </p:nvSpPr>
        <p:spPr>
          <a:xfrm>
            <a:off x="6092284" y="5036060"/>
            <a:ext cx="6099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5"/>
              </a:rPr>
              <a:t>https://communities.springernature.com/posts/llms-and-ai-agents-transforming-scientific-forecasting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1652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DAE63-F0C3-52C0-EBCC-6920611E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931F8-D760-C25B-1519-E82FEC1B8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BB256-737A-44F8-349E-37CBA165B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4D815C-8BF3-4ECF-A945-A2A7C2983AF9}" type="slidenum">
              <a:rPr lang="en-US" smtClean="0">
                <a:latin typeface="Avenir Next LT Pro"/>
              </a:rPr>
              <a:pPr>
                <a:defRPr/>
              </a:pPr>
              <a:t>7</a:t>
            </a:fld>
            <a:endParaRPr lang="en-US" dirty="0">
              <a:latin typeface="Avenir Next LT Pr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C49AAD-85AE-0E6D-58CE-594D1B14D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69" y="2553288"/>
            <a:ext cx="3455386" cy="9286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6B6CDD-9074-E701-DB82-72A3A4471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064" y="2468343"/>
            <a:ext cx="6736164" cy="4389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2F0E12-490B-DE77-E38B-67D5C3CB1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22" y="3551976"/>
            <a:ext cx="4242743" cy="22223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507B53-5BA1-3CBD-7B37-986C8A7A81F7}"/>
              </a:ext>
            </a:extLst>
          </p:cNvPr>
          <p:cNvSpPr txBox="1"/>
          <p:nvPr/>
        </p:nvSpPr>
        <p:spPr>
          <a:xfrm>
            <a:off x="247569" y="5844394"/>
            <a:ext cx="60997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5"/>
              </a:rPr>
              <a:t>https://arxiv.org/pdf/2510.09901v2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6789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139C-35B0-F7F6-0860-CF84EE09F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933" y="194783"/>
            <a:ext cx="9421177" cy="76949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Researchers Concerns </a:t>
            </a:r>
            <a:endParaRPr lang="en-AU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844C5B3A-B51C-7F53-0834-42E3B9638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33" y="2160432"/>
            <a:ext cx="10257155" cy="3384860"/>
          </a:xfrm>
          <a:prstGeom prst="rect">
            <a:avLst/>
          </a:prstGeom>
          <a:noFill/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5EBF7F8-06A5-9AF3-E2ED-D1E20177E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261" y="6356350"/>
            <a:ext cx="302364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AU" b="1"/>
              <a:t>(Paula McDonald et al., 2024)</a:t>
            </a:r>
            <a:endParaRPr lang="en-US" b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C1C17-F2E5-E632-994A-6CA43D092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167" y="6356350"/>
            <a:ext cx="45826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244D815C-8BF3-4ECF-A945-A2A7C2983AF9}" type="slidenum">
              <a:rPr lang="en-US" smtClean="0"/>
              <a:pPr>
                <a:spcAft>
                  <a:spcPts val="600"/>
                </a:spcAft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731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A2B79-863F-1B37-4B5E-9B8D918B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45" y="365124"/>
            <a:ext cx="10332381" cy="1501327"/>
          </a:xfrm>
        </p:spPr>
        <p:txBody>
          <a:bodyPr/>
          <a:lstStyle/>
          <a:p>
            <a:r>
              <a:rPr lang="en-US" dirty="0"/>
              <a:t>Human Intelligence and AI in Research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8C40C-D8C5-4E7C-3D28-F18EFCA9C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8E73D-7447-4638-92FD-2E324B8DD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4D815C-8BF3-4ECF-A945-A2A7C2983AF9}" type="slidenum">
              <a:rPr lang="en-US" smtClean="0">
                <a:latin typeface="Avenir Next LT Pro"/>
              </a:rPr>
              <a:pPr>
                <a:defRPr/>
              </a:pPr>
              <a:t>9</a:t>
            </a:fld>
            <a:endParaRPr lang="en-US" dirty="0">
              <a:latin typeface="Avenir Next LT Pro"/>
            </a:endParaRPr>
          </a:p>
        </p:txBody>
      </p:sp>
      <p:graphicFrame>
        <p:nvGraphicFramePr>
          <p:cNvPr id="7" name="Content Placeholder 8">
            <a:extLst>
              <a:ext uri="{FF2B5EF4-FFF2-40B4-BE49-F238E27FC236}">
                <a16:creationId xmlns:a16="http://schemas.microsoft.com/office/drawing/2014/main" id="{D61FE99D-2C24-FF30-6A37-6F3CDC8559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2633276"/>
              </p:ext>
            </p:extLst>
          </p:nvPr>
        </p:nvGraphicFramePr>
        <p:xfrm>
          <a:off x="846850" y="2452397"/>
          <a:ext cx="7787248" cy="40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6812">
                  <a:extLst>
                    <a:ext uri="{9D8B030D-6E8A-4147-A177-3AD203B41FA5}">
                      <a16:colId xmlns:a16="http://schemas.microsoft.com/office/drawing/2014/main" val="1905403055"/>
                    </a:ext>
                  </a:extLst>
                </a:gridCol>
                <a:gridCol w="1946812">
                  <a:extLst>
                    <a:ext uri="{9D8B030D-6E8A-4147-A177-3AD203B41FA5}">
                      <a16:colId xmlns:a16="http://schemas.microsoft.com/office/drawing/2014/main" val="2376232969"/>
                    </a:ext>
                  </a:extLst>
                </a:gridCol>
                <a:gridCol w="1946812">
                  <a:extLst>
                    <a:ext uri="{9D8B030D-6E8A-4147-A177-3AD203B41FA5}">
                      <a16:colId xmlns:a16="http://schemas.microsoft.com/office/drawing/2014/main" val="325234024"/>
                    </a:ext>
                  </a:extLst>
                </a:gridCol>
                <a:gridCol w="1946812">
                  <a:extLst>
                    <a:ext uri="{9D8B030D-6E8A-4147-A177-3AD203B41FA5}">
                      <a16:colId xmlns:a16="http://schemas.microsoft.com/office/drawing/2014/main" val="3914126519"/>
                    </a:ext>
                  </a:extLst>
                </a:gridCol>
              </a:tblGrid>
              <a:tr h="505971">
                <a:tc>
                  <a:txBody>
                    <a:bodyPr/>
                    <a:lstStyle/>
                    <a:p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Human Intelligence</a:t>
                      </a:r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AI Intelligence</a:t>
                      </a:r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HI+AI in Research 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87298"/>
                  </a:ext>
                </a:extLst>
              </a:tr>
              <a:tr h="1081305">
                <a:tc>
                  <a:txBody>
                    <a:bodyPr/>
                    <a:lstStyle/>
                    <a:p>
                      <a:r>
                        <a:rPr lang="en-US" sz="1200" dirty="0"/>
                        <a:t>Creativity, Innovation</a:t>
                      </a:r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Human Intelligence is at top, where research needs innovation.</a:t>
                      </a:r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AI is an aiding tool for brainstorming of ideas around innovation but not actual innovation</a:t>
                      </a:r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Driven Through HI where philosophy is lead by Humans. AI can team up Humans to speed up innovation and creativity process. 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543596"/>
                  </a:ext>
                </a:extLst>
              </a:tr>
              <a:tr h="1081305">
                <a:tc>
                  <a:txBody>
                    <a:bodyPr/>
                    <a:lstStyle/>
                    <a:p>
                      <a:r>
                        <a:rPr lang="en-US" sz="1200" dirty="0"/>
                        <a:t>Adaptability </a:t>
                      </a:r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 can evolve according to complex situations and environments, can comprehend Philosophical thoughts </a:t>
                      </a:r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Good in known specific tasks for research, not able to adapt to new situations i.e. if a research hypothesis is failed? </a:t>
                      </a:r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HI, and human intellectual research though process to improve automation and aiding solving complex problems 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431912"/>
                  </a:ext>
                </a:extLst>
              </a:tr>
              <a:tr h="1157068">
                <a:tc>
                  <a:txBody>
                    <a:bodyPr/>
                    <a:lstStyle/>
                    <a:p>
                      <a:r>
                        <a:rPr lang="en-US" sz="1200" dirty="0"/>
                        <a:t>Cognitive Processing</a:t>
                      </a:r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 can process complex cognitive tasks required in a research</a:t>
                      </a:r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AI can do certain cogitative tasks at high speed i.e. Data Analysis, mathematical tasks in certain research stages</a:t>
                      </a:r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 and AI can collaborate effectively for certain Research tasks. </a:t>
                      </a:r>
                      <a:endParaRPr lang="en-A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655380"/>
                  </a:ext>
                </a:extLst>
              </a:tr>
            </a:tbl>
          </a:graphicData>
        </a:graphic>
      </p:graphicFrame>
      <p:pic>
        <p:nvPicPr>
          <p:cNvPr id="8" name="Picture Placeholder 5" descr="A person sitting at a table with a robot&#10;&#10;Description automatically generated">
            <a:extLst>
              <a:ext uri="{FF2B5EF4-FFF2-40B4-BE49-F238E27FC236}">
                <a16:creationId xmlns:a16="http://schemas.microsoft.com/office/drawing/2014/main" id="{C809B4D9-259A-2075-716E-4E1A763DBA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3" b="5733"/>
          <a:stretch>
            <a:fillRect/>
          </a:stretch>
        </p:blipFill>
        <p:spPr>
          <a:xfrm>
            <a:off x="8931562" y="3055844"/>
            <a:ext cx="2926849" cy="224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4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62EB8-401F-9DB7-19B3-405052417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and Research Journey stages 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EB266-1739-8211-7D7F-E7DAD120C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Public Sans"/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2B45A-CAE2-B08C-9F9C-2C0F7A2CD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4D815C-8BF3-4ECF-A945-A2A7C2983AF9}" type="slidenum">
              <a:rPr lang="en-US" smtClean="0">
                <a:latin typeface="Public Sans"/>
              </a:rPr>
              <a:pPr>
                <a:defRPr/>
              </a:pPr>
              <a:t>10</a:t>
            </a:fld>
            <a:endParaRPr lang="en-US" dirty="0">
              <a:latin typeface="Public 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DBC024-E52F-FD8A-124D-0F1B4BAAC74E}"/>
              </a:ext>
            </a:extLst>
          </p:cNvPr>
          <p:cNvSpPr/>
          <p:nvPr/>
        </p:nvSpPr>
        <p:spPr>
          <a:xfrm>
            <a:off x="95575" y="2771915"/>
            <a:ext cx="3326921" cy="1431985"/>
          </a:xfrm>
          <a:prstGeom prst="rect">
            <a:avLst/>
          </a:prstGeom>
          <a:solidFill>
            <a:srgbClr val="C000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latin typeface="Public Sans"/>
              </a:rPr>
              <a:t>Develop Essential </a:t>
            </a:r>
            <a:r>
              <a:rPr lang="en-AU" sz="1200" b="1" dirty="0">
                <a:latin typeface="Public Sans"/>
              </a:rPr>
              <a:t>Research methodologies</a:t>
            </a:r>
            <a:r>
              <a:rPr lang="en-AU" sz="1200" dirty="0">
                <a:latin typeface="Public Sans"/>
              </a:rPr>
              <a:t>, </a:t>
            </a:r>
            <a:r>
              <a:rPr lang="en-AU" sz="1200" b="1" dirty="0">
                <a:latin typeface="Public Sans"/>
              </a:rPr>
              <a:t>critical</a:t>
            </a:r>
            <a:r>
              <a:rPr lang="en-AU" sz="1200" dirty="0">
                <a:latin typeface="Public Sans"/>
              </a:rPr>
              <a:t> thinking, formulating </a:t>
            </a:r>
            <a:r>
              <a:rPr lang="en-AU" sz="1200" b="1" dirty="0">
                <a:latin typeface="Public Sans"/>
              </a:rPr>
              <a:t>research</a:t>
            </a:r>
            <a:r>
              <a:rPr lang="en-AU" sz="1200" dirty="0">
                <a:latin typeface="Public Sans"/>
              </a:rPr>
              <a:t> ideas, research planning data collection, and Analysis. </a:t>
            </a:r>
          </a:p>
          <a:p>
            <a:pPr algn="ctr"/>
            <a:endParaRPr lang="en-AU" sz="1400" dirty="0">
              <a:latin typeface="Public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B36DD-62FA-EFB0-0677-921C1126822F}"/>
              </a:ext>
            </a:extLst>
          </p:cNvPr>
          <p:cNvSpPr txBox="1"/>
          <p:nvPr/>
        </p:nvSpPr>
        <p:spPr>
          <a:xfrm>
            <a:off x="45167" y="2406031"/>
            <a:ext cx="3891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Public Sans"/>
              </a:rPr>
              <a:t>Early Candidature: Research Students</a:t>
            </a:r>
            <a:endParaRPr lang="en-AU" sz="1400" b="1" dirty="0">
              <a:latin typeface="Public San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1D4804-09CE-D550-D419-BCE5A174EB7C}"/>
              </a:ext>
            </a:extLst>
          </p:cNvPr>
          <p:cNvSpPr/>
          <p:nvPr/>
        </p:nvSpPr>
        <p:spPr>
          <a:xfrm>
            <a:off x="7817001" y="2713808"/>
            <a:ext cx="4205743" cy="15482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AU" sz="1200" b="1" dirty="0">
                <a:latin typeface="Public Sans"/>
              </a:rPr>
              <a:t>Brainstorming</a:t>
            </a:r>
            <a:r>
              <a:rPr lang="en-AU" sz="1200" dirty="0">
                <a:latin typeface="Public Sans"/>
              </a:rPr>
              <a:t>   (Human collaborators Vs AI) </a:t>
            </a:r>
          </a:p>
          <a:p>
            <a:pPr lvl="1"/>
            <a:r>
              <a:rPr lang="en-AU" sz="1200" dirty="0">
                <a:latin typeface="Public Sans"/>
              </a:rPr>
              <a:t>Learn to Develop Scientific AI Queries and </a:t>
            </a:r>
            <a:r>
              <a:rPr lang="en-AU" sz="1200" b="1" dirty="0">
                <a:latin typeface="Public Sans"/>
              </a:rPr>
              <a:t>prompt Engineering </a:t>
            </a:r>
          </a:p>
          <a:p>
            <a:pPr lvl="1"/>
            <a:r>
              <a:rPr lang="en-AU" sz="1200" dirty="0">
                <a:latin typeface="Public Sans"/>
              </a:rPr>
              <a:t>AI-Driven Survey Existing methods </a:t>
            </a:r>
          </a:p>
          <a:p>
            <a:pPr algn="ctr"/>
            <a:endParaRPr lang="en-AU" sz="1400" dirty="0">
              <a:latin typeface="Public San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7260DF-39EC-78A4-9DBA-4E16E7928D7D}"/>
              </a:ext>
            </a:extLst>
          </p:cNvPr>
          <p:cNvSpPr/>
          <p:nvPr/>
        </p:nvSpPr>
        <p:spPr>
          <a:xfrm>
            <a:off x="4060929" y="4262008"/>
            <a:ext cx="3117637" cy="1431985"/>
          </a:xfrm>
          <a:prstGeom prst="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1" indent="0">
              <a:buFont typeface="Arial" panose="020B0604020202020204" pitchFamily="34" charset="0"/>
              <a:buNone/>
            </a:pPr>
            <a:r>
              <a:rPr lang="en-US" sz="1200" b="1" dirty="0">
                <a:latin typeface="Public Sans"/>
              </a:rPr>
              <a:t>Editorial</a:t>
            </a:r>
            <a:r>
              <a:rPr lang="en-US" sz="1200" dirty="0">
                <a:latin typeface="Public Sans"/>
              </a:rPr>
              <a:t> Assistance (Grammarly)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200" b="1" dirty="0">
                <a:latin typeface="Public Sans"/>
              </a:rPr>
              <a:t>Proof Reading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200" dirty="0">
                <a:latin typeface="Public Sans"/>
              </a:rPr>
              <a:t>Language Improvement </a:t>
            </a:r>
          </a:p>
          <a:p>
            <a:pPr algn="ctr"/>
            <a:endParaRPr lang="en-AU" sz="1400" dirty="0">
              <a:latin typeface="Public San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2F4B8A-B4EF-B68E-5339-34E0F987FF90}"/>
              </a:ext>
            </a:extLst>
          </p:cNvPr>
          <p:cNvSpPr/>
          <p:nvPr/>
        </p:nvSpPr>
        <p:spPr>
          <a:xfrm>
            <a:off x="95575" y="5218978"/>
            <a:ext cx="3462329" cy="143198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1" indent="0">
              <a:buFont typeface="Arial" panose="020B0604020202020204" pitchFamily="34" charset="0"/>
              <a:buNone/>
            </a:pPr>
            <a:r>
              <a:rPr lang="en-US" sz="1200" dirty="0">
                <a:latin typeface="Public Sans"/>
              </a:rPr>
              <a:t>Scientific Research Methods, Domain Knowledge and Problem Rigor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200" dirty="0">
                <a:latin typeface="Public Sans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200" b="1" dirty="0">
                <a:latin typeface="Public Sans"/>
              </a:rPr>
              <a:t>AI- Coding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200" b="1" dirty="0">
                <a:latin typeface="Public Sans"/>
              </a:rPr>
              <a:t>Data</a:t>
            </a:r>
            <a:r>
              <a:rPr lang="en-US" sz="1200" dirty="0">
                <a:latin typeface="Public Sans"/>
              </a:rPr>
              <a:t> cleansing, Analysis,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200" dirty="0">
                <a:latin typeface="Public Sans"/>
              </a:rPr>
              <a:t>Visualizations</a:t>
            </a:r>
          </a:p>
          <a:p>
            <a:pPr algn="ctr"/>
            <a:endParaRPr lang="en-AU" sz="1400" dirty="0">
              <a:latin typeface="Public San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0E7E86-3534-10F6-8E7D-0855D503F053}"/>
              </a:ext>
            </a:extLst>
          </p:cNvPr>
          <p:cNvSpPr/>
          <p:nvPr/>
        </p:nvSpPr>
        <p:spPr>
          <a:xfrm>
            <a:off x="7817001" y="5218978"/>
            <a:ext cx="4279424" cy="150909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1" indent="0">
              <a:buFont typeface="Arial" panose="020B0604020202020204" pitchFamily="34" charset="0"/>
              <a:buNone/>
            </a:pPr>
            <a:r>
              <a:rPr lang="en-US" sz="1200" b="1" dirty="0">
                <a:latin typeface="Public Sans"/>
              </a:rPr>
              <a:t>Understand</a:t>
            </a:r>
            <a:r>
              <a:rPr lang="en-US" sz="1200" dirty="0">
                <a:latin typeface="Public Sans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200" dirty="0">
                <a:latin typeface="Public Sans"/>
              </a:rPr>
              <a:t>AI policies prior to publication in Journals and Conferences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200" b="1" dirty="0">
                <a:latin typeface="Public Sans"/>
              </a:rPr>
              <a:t>Avoid</a:t>
            </a:r>
            <a:r>
              <a:rPr lang="en-US" sz="1200" dirty="0">
                <a:latin typeface="Public Sans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200" dirty="0">
                <a:latin typeface="Public Sans"/>
              </a:rPr>
              <a:t>Substantive use of AI (Thesis, journal articles)</a:t>
            </a:r>
            <a:endParaRPr lang="en-AU" sz="1200" dirty="0">
              <a:latin typeface="Public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B27851-B055-00F9-B4AC-848074DB8CAF}"/>
              </a:ext>
            </a:extLst>
          </p:cNvPr>
          <p:cNvSpPr txBox="1"/>
          <p:nvPr/>
        </p:nvSpPr>
        <p:spPr>
          <a:xfrm>
            <a:off x="7818011" y="4911760"/>
            <a:ext cx="2975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Public Sans"/>
              </a:rPr>
              <a:t>Towards Thesis Submission</a:t>
            </a:r>
            <a:endParaRPr lang="en-AU" sz="1400" b="1" dirty="0">
              <a:latin typeface="Public San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26A85F-EF45-0494-3236-77D65B3B15A3}"/>
              </a:ext>
            </a:extLst>
          </p:cNvPr>
          <p:cNvSpPr txBox="1"/>
          <p:nvPr/>
        </p:nvSpPr>
        <p:spPr>
          <a:xfrm>
            <a:off x="8211820" y="2359703"/>
            <a:ext cx="2536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Mid Candidature Stages </a:t>
            </a:r>
            <a:endParaRPr lang="en-AU" sz="1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4B9618-A303-EE6B-98C8-26B0C51F8FC4}"/>
              </a:ext>
            </a:extLst>
          </p:cNvPr>
          <p:cNvSpPr txBox="1"/>
          <p:nvPr/>
        </p:nvSpPr>
        <p:spPr>
          <a:xfrm>
            <a:off x="100245" y="4847513"/>
            <a:ext cx="3891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Public Sans"/>
              </a:rPr>
              <a:t>HDRS Maturity Stages </a:t>
            </a:r>
            <a:endParaRPr lang="en-AU" sz="1400" b="1" dirty="0">
              <a:latin typeface="Public San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7993B5-5CD3-B943-D514-62FCF74F24AD}"/>
              </a:ext>
            </a:extLst>
          </p:cNvPr>
          <p:cNvSpPr txBox="1"/>
          <p:nvPr/>
        </p:nvSpPr>
        <p:spPr>
          <a:xfrm>
            <a:off x="4854157" y="3954231"/>
            <a:ext cx="1559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Public Sans"/>
              </a:rPr>
              <a:t>Any Stage</a:t>
            </a:r>
            <a:endParaRPr lang="en-AU" sz="1400" b="1" dirty="0">
              <a:latin typeface="Public Sans"/>
            </a:endParaRPr>
          </a:p>
        </p:txBody>
      </p:sp>
    </p:spTree>
    <p:extLst>
      <p:ext uri="{BB962C8B-B14F-4D97-AF65-F5344CB8AC3E}">
        <p14:creationId xmlns:p14="http://schemas.microsoft.com/office/powerpoint/2010/main" val="313601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982E8-B0F2-4E07-211D-3DEF626E7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933" y="194783"/>
            <a:ext cx="9421177" cy="769493"/>
          </a:xfrm>
        </p:spPr>
        <p:txBody>
          <a:bodyPr anchor="ctr">
            <a:normAutofit/>
          </a:bodyPr>
          <a:lstStyle/>
          <a:p>
            <a:r>
              <a:rPr lang="en-US" sz="4400"/>
              <a:t>Getting Ready for AI-Driven Research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58B512-DB5A-ED2A-F2BB-8816D312B5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2933" y="1695450"/>
            <a:ext cx="5033327" cy="4314825"/>
          </a:xfrm>
        </p:spPr>
        <p:txBody>
          <a:bodyPr>
            <a:normAutofit/>
          </a:bodyPr>
          <a:lstStyle/>
          <a:p>
            <a:r>
              <a:rPr lang="en-US"/>
              <a:t>Fundamental Literacy for AI models and Tooling in Higer Education </a:t>
            </a:r>
          </a:p>
          <a:p>
            <a:r>
              <a:rPr lang="en-US"/>
              <a:t>Universities must be at pace to respond how Students, Academics and Industry Partners are using AI in Research. </a:t>
            </a:r>
          </a:p>
          <a:p>
            <a:r>
              <a:rPr lang="en-US"/>
              <a:t>Move from doom or hype to reality and should clearly know benefits and risks of AI driven Research. </a:t>
            </a:r>
            <a:endParaRPr lang="en-AU"/>
          </a:p>
          <a:p>
            <a:endParaRPr lang="en-US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534D2-D10B-8E49-57FD-23986B9D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261" y="6356350"/>
            <a:ext cx="302364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none" spc="0">
                <a:ln>
                  <a:noFill/>
                </a:ln>
                <a:effectLst/>
                <a:latin typeface="Public Sans" pitchFamily="2" charset="77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A128D-EE83-56D4-8CC1-4A8B712F7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167" y="6356350"/>
            <a:ext cx="45826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244D815C-8BF3-4ECF-A945-A2A7C2983AF9}" type="slidenum">
              <a:rPr lang="en-US" smtClean="0">
                <a:latin typeface="Avenir Next LT Pro"/>
              </a:rPr>
              <a:pPr>
                <a:spcAft>
                  <a:spcPts val="600"/>
                </a:spcAft>
                <a:defRPr/>
              </a:pPr>
              <a:t>11</a:t>
            </a:fld>
            <a:endParaRPr lang="en-US">
              <a:latin typeface="Avenir Next LT Pro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2EA5D2B-5E23-B335-5DF8-B60AAAC5EAE3}"/>
              </a:ext>
            </a:extLst>
          </p:cNvPr>
          <p:cNvSpPr txBox="1">
            <a:spLocks/>
          </p:cNvSpPr>
          <p:nvPr/>
        </p:nvSpPr>
        <p:spPr>
          <a:xfrm>
            <a:off x="5826760" y="1695450"/>
            <a:ext cx="5033327" cy="4314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kern="1200" spc="-20"/>
              <a:t>Open Source and Commercial AI Tools for Academic Research </a:t>
            </a:r>
          </a:p>
          <a:p>
            <a:pPr marL="0" indent="0">
              <a:buNone/>
            </a:pPr>
            <a:endParaRPr lang="en-US" sz="1800" kern="1200" spc="-20"/>
          </a:p>
          <a:p>
            <a:pPr marL="0" indent="0">
              <a:buNone/>
            </a:pPr>
            <a:r>
              <a:rPr lang="en-US" sz="1800" kern="1200" spc="-20"/>
              <a:t>Leverage AI to push the frontier of scientific knowledge.</a:t>
            </a:r>
          </a:p>
          <a:p>
            <a:pPr marL="0" indent="0">
              <a:buNone/>
            </a:pPr>
            <a:r>
              <a:rPr lang="en-US" sz="1800" kern="1200" spc="-20"/>
              <a:t>industry standards for the responsible use of AI in scientific discovery</a:t>
            </a:r>
          </a:p>
        </p:txBody>
      </p:sp>
    </p:spTree>
    <p:extLst>
      <p:ext uri="{BB962C8B-B14F-4D97-AF65-F5344CB8AC3E}">
        <p14:creationId xmlns:p14="http://schemas.microsoft.com/office/powerpoint/2010/main" val="3260559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0331B-476C-7759-C0D1-51E7C3634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Supervisors Role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F44BB-ACEA-9ED5-FA2E-572DCE6D7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0886" y="2778416"/>
            <a:ext cx="7879971" cy="3284359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/>
              <a:t>Supervisors must be equipped with necessary AI tooling and literacy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/>
              <a:t>Start open discussions among students concerning the use of AI.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/>
              <a:t>Encourage Research students to gain fundamental knowledge of AI tooling.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/>
              <a:t>Explore downstream AI models for Research purposes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/>
              <a:t> Provide explicit guidelines on using AI at different stages of a research journey. </a:t>
            </a:r>
            <a:endParaRPr lang="en-AU"/>
          </a:p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3E267-6BE9-2E8C-131D-A5BB33EB3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4D815C-8BF3-4ECF-A945-A2A7C2983AF9}" type="slidenum">
              <a:rPr lang="en-US" smtClean="0">
                <a:latin typeface="Avenir Next LT Pro"/>
              </a:rPr>
              <a:pPr>
                <a:defRPr/>
              </a:pPr>
              <a:t>12</a:t>
            </a:fld>
            <a:endParaRPr lang="en-US" dirty="0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917216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F10A9-808A-5797-64E2-A11341E54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1012-3C68-52E7-9571-E3699BBCE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4D815C-8BF3-4ECF-A945-A2A7C2983AF9}" type="slidenum">
              <a:rPr lang="en-US" smtClean="0">
                <a:latin typeface="Avenir Next LT Pro"/>
              </a:rPr>
              <a:pPr>
                <a:defRPr/>
              </a:pPr>
              <a:t>13</a:t>
            </a:fld>
            <a:endParaRPr lang="en-US" dirty="0">
              <a:latin typeface="Avenir Next LT Pro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90A8298-8ED2-63C0-2BB7-F7218F13F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648" y="588645"/>
            <a:ext cx="10194116" cy="1501775"/>
          </a:xfrm>
        </p:spPr>
        <p:txBody>
          <a:bodyPr>
            <a:normAutofit/>
          </a:bodyPr>
          <a:lstStyle/>
          <a:p>
            <a:r>
              <a:rPr lang="en-US" dirty="0"/>
              <a:t>Ethical Use of AI in Research (Students, Supervisors, and Org. Roles) </a:t>
            </a:r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A7FED0-42BA-DD73-6DC0-374E46EE13DD}"/>
              </a:ext>
            </a:extLst>
          </p:cNvPr>
          <p:cNvSpPr/>
          <p:nvPr/>
        </p:nvSpPr>
        <p:spPr>
          <a:xfrm>
            <a:off x="610966" y="3533594"/>
            <a:ext cx="3774384" cy="264995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Public Sans"/>
            </a:endParaRPr>
          </a:p>
          <a:p>
            <a:pPr algn="ctr"/>
            <a:endParaRPr lang="en-US" sz="1200" dirty="0">
              <a:latin typeface="Public Sans"/>
            </a:endParaRPr>
          </a:p>
          <a:p>
            <a:pPr algn="ctr"/>
            <a:endParaRPr lang="en-US" sz="1200" dirty="0">
              <a:latin typeface="Public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Public Sans"/>
              </a:rPr>
              <a:t>Responsible</a:t>
            </a:r>
            <a:r>
              <a:rPr lang="en-US" sz="1200" dirty="0">
                <a:latin typeface="Public Sans"/>
              </a:rPr>
              <a:t> for Scientific Output regardless of AI usage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Public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i="0" dirty="0">
                <a:effectLst/>
              </a:rPr>
              <a:t>Language support is not a replacement for</a:t>
            </a:r>
            <a:r>
              <a:rPr lang="en-US" sz="1200" dirty="0"/>
              <a:t> HI critical thinking and contextual knowledge. </a:t>
            </a:r>
            <a:br>
              <a:rPr lang="en-US" sz="1200" b="0" i="0" dirty="0">
                <a:effectLst/>
              </a:rPr>
            </a:br>
            <a:r>
              <a:rPr lang="en-US" sz="1200" b="0" i="0" dirty="0">
                <a:effectLst/>
              </a:rPr>
              <a:t>Researchers should rely on critical thinking to supplement AI’s </a:t>
            </a:r>
            <a:r>
              <a:rPr lang="en-US" sz="1200" b="1" i="0" dirty="0">
                <a:effectLst/>
              </a:rPr>
              <a:t>output.</a:t>
            </a:r>
            <a:br>
              <a:rPr lang="en-US" sz="1200" b="1" i="0" dirty="0">
                <a:effectLst/>
              </a:rPr>
            </a:br>
            <a:endParaRPr lang="en-US" sz="1200" b="1" i="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Public Sans"/>
              </a:rPr>
              <a:t>Transparency</a:t>
            </a:r>
            <a:r>
              <a:rPr lang="en-US" sz="1200" dirty="0">
                <a:latin typeface="Public Sans"/>
              </a:rPr>
              <a:t> and Integrity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Public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Public Sans"/>
              </a:rPr>
              <a:t>Data</a:t>
            </a:r>
            <a:r>
              <a:rPr lang="en-US" sz="1200" dirty="0">
                <a:latin typeface="Public Sans"/>
              </a:rPr>
              <a:t> Privacy and Confidentiality </a:t>
            </a:r>
          </a:p>
          <a:p>
            <a:pPr algn="ctr"/>
            <a:endParaRPr lang="en-US" sz="1200" dirty="0">
              <a:latin typeface="Public Sans"/>
            </a:endParaRPr>
          </a:p>
          <a:p>
            <a:pPr algn="ctr"/>
            <a:endParaRPr lang="en-US" sz="1200" dirty="0">
              <a:latin typeface="Public Sans"/>
            </a:endParaRPr>
          </a:p>
          <a:p>
            <a:pPr algn="ctr"/>
            <a:endParaRPr lang="en-US" sz="1200" dirty="0">
              <a:latin typeface="Public Sans"/>
            </a:endParaRPr>
          </a:p>
          <a:p>
            <a:pPr algn="ctr"/>
            <a:endParaRPr lang="en-US" sz="1200" dirty="0">
              <a:latin typeface="Public Sans"/>
            </a:endParaRPr>
          </a:p>
          <a:p>
            <a:pPr algn="ctr"/>
            <a:endParaRPr lang="en-US" sz="1200" dirty="0">
              <a:latin typeface="Public Sans"/>
            </a:endParaRPr>
          </a:p>
          <a:p>
            <a:pPr algn="ctr"/>
            <a:r>
              <a:rPr lang="en-AU" sz="1200" dirty="0">
                <a:latin typeface="Public Sans"/>
              </a:rPr>
              <a:t>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1E6473-0431-6FDC-6F94-600C0351E893}"/>
              </a:ext>
            </a:extLst>
          </p:cNvPr>
          <p:cNvSpPr txBox="1"/>
          <p:nvPr/>
        </p:nvSpPr>
        <p:spPr>
          <a:xfrm>
            <a:off x="3225666" y="2410341"/>
            <a:ext cx="466863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Research Supervisors and  Students </a:t>
            </a:r>
            <a:endParaRPr lang="en-AU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11940E-8CD8-384D-DA2A-7A71DC079512}"/>
              </a:ext>
            </a:extLst>
          </p:cNvPr>
          <p:cNvSpPr/>
          <p:nvPr/>
        </p:nvSpPr>
        <p:spPr>
          <a:xfrm>
            <a:off x="5111033" y="3967594"/>
            <a:ext cx="2881587" cy="178195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ublic Sans"/>
              </a:rPr>
              <a:t> Student proposal Development</a:t>
            </a:r>
          </a:p>
          <a:p>
            <a:r>
              <a:rPr lang="en-US" sz="1200" b="1" dirty="0">
                <a:latin typeface="Public Sans"/>
              </a:rPr>
              <a:t>     (Not Desired)</a:t>
            </a:r>
          </a:p>
          <a:p>
            <a:endParaRPr lang="en-US" sz="1200" b="1" dirty="0">
              <a:latin typeface="Public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ublic Sans"/>
              </a:rPr>
              <a:t>Interpretation and Conclusions</a:t>
            </a:r>
          </a:p>
          <a:p>
            <a:r>
              <a:rPr lang="en-US" sz="1200" b="1" dirty="0">
                <a:latin typeface="Public Sans"/>
              </a:rPr>
              <a:t>     (Don’t)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ublic Sans"/>
              </a:rPr>
              <a:t>AI-Peer Reviews and Assessments  (</a:t>
            </a:r>
            <a:r>
              <a:rPr lang="en-US" sz="1200" b="1" dirty="0">
                <a:latin typeface="Public Sans"/>
              </a:rPr>
              <a:t>Don’t</a:t>
            </a:r>
            <a:r>
              <a:rPr lang="en-US" sz="1200" dirty="0">
                <a:latin typeface="Public Sans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Public San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ublic Sans"/>
              </a:rPr>
              <a:t>Competitive Research Grants </a:t>
            </a:r>
            <a:r>
              <a:rPr lang="en-US" sz="1200" b="1" dirty="0">
                <a:latin typeface="Public Sans"/>
              </a:rPr>
              <a:t>(Subjective)</a:t>
            </a:r>
            <a:endParaRPr lang="en-AU" sz="1200" b="1" dirty="0">
              <a:latin typeface="Public San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0B3624-EDB1-F929-065A-9F24DE95531C}"/>
              </a:ext>
            </a:extLst>
          </p:cNvPr>
          <p:cNvSpPr/>
          <p:nvPr/>
        </p:nvSpPr>
        <p:spPr>
          <a:xfrm>
            <a:off x="8718303" y="3995928"/>
            <a:ext cx="2862731" cy="175361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Public Sans"/>
              </a:rPr>
              <a:t>Frameworks</a:t>
            </a:r>
            <a:r>
              <a:rPr lang="en-US" sz="1200" dirty="0">
                <a:latin typeface="Public Sans"/>
              </a:rPr>
              <a:t>, Guidelines Evolution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Public Sans"/>
              </a:rPr>
              <a:t> Domain-Specific use of AI in Research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Public Sans"/>
              </a:rPr>
              <a:t>AI </a:t>
            </a:r>
            <a:r>
              <a:rPr lang="en-US" sz="1200" b="1" dirty="0">
                <a:latin typeface="Public Sans"/>
              </a:rPr>
              <a:t>Governance</a:t>
            </a:r>
            <a:r>
              <a:rPr lang="en-US" sz="1200" dirty="0">
                <a:latin typeface="Public Sans"/>
              </a:rPr>
              <a:t>, Monitoring and Auditing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i="0" dirty="0">
                <a:effectLst/>
                <a:latin typeface="-apple-system"/>
              </a:rPr>
              <a:t>Leverage</a:t>
            </a:r>
            <a:r>
              <a:rPr lang="en-US" sz="1200" b="0" i="0" dirty="0">
                <a:effectLst/>
                <a:latin typeface="-apple-system"/>
              </a:rPr>
              <a:t> AI to push the frontier of scientific knowledge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200" dirty="0">
              <a:latin typeface="Public Sans"/>
            </a:endParaRPr>
          </a:p>
        </p:txBody>
      </p:sp>
    </p:spTree>
    <p:extLst>
      <p:ext uri="{BB962C8B-B14F-4D97-AF65-F5344CB8AC3E}">
        <p14:creationId xmlns:p14="http://schemas.microsoft.com/office/powerpoint/2010/main" val="3333768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30761B21-88ED-449E-B2B9-3FC40844C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563" y="4998113"/>
            <a:ext cx="7700617" cy="1409037"/>
          </a:xfrm>
        </p:spPr>
        <p:txBody>
          <a:bodyPr/>
          <a:lstStyle/>
          <a:p>
            <a:r>
              <a:rPr lang="en-US" dirty="0"/>
              <a:t>Thank you.</a:t>
            </a:r>
          </a:p>
        </p:txBody>
      </p:sp>
      <p:sp>
        <p:nvSpPr>
          <p:cNvPr id="33" name="Subtitle 32">
            <a:extLst>
              <a:ext uri="{FF2B5EF4-FFF2-40B4-BE49-F238E27FC236}">
                <a16:creationId xmlns:a16="http://schemas.microsoft.com/office/drawing/2014/main" id="{0EEAA874-288B-4330-9FA4-F1144ACD4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1692" y="1819636"/>
            <a:ext cx="2748056" cy="147565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Dr. Ahmad Mohsin</a:t>
            </a:r>
          </a:p>
          <a:p>
            <a:endParaRPr lang="en-US" sz="2000" dirty="0">
              <a:solidFill>
                <a:schemeClr val="accent1"/>
              </a:solidFill>
            </a:endParaRPr>
          </a:p>
          <a:p>
            <a:r>
              <a:rPr lang="en-US" sz="2000" dirty="0">
                <a:solidFill>
                  <a:schemeClr val="accent1"/>
                </a:solidFill>
              </a:rPr>
              <a:t>a.mohsin@ecu.eud.au</a:t>
            </a:r>
          </a:p>
          <a:p>
            <a:endParaRPr lang="en-US" sz="2000" dirty="0">
              <a:solidFill>
                <a:schemeClr val="accent1"/>
              </a:solidFill>
            </a:endParaRPr>
          </a:p>
          <a:p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52" name="Picture Placeholder 51">
            <a:extLst>
              <a:ext uri="{FF2B5EF4-FFF2-40B4-BE49-F238E27FC236}">
                <a16:creationId xmlns:a16="http://schemas.microsoft.com/office/drawing/2014/main" id="{45DFCBF0-F91E-40C0-A4E6-24E8250C3B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3485" b="13485"/>
          <a:stretch/>
        </p:blipFill>
        <p:spPr/>
      </p:pic>
      <p:pic>
        <p:nvPicPr>
          <p:cNvPr id="58" name="Picture Placeholder 57">
            <a:extLst>
              <a:ext uri="{FF2B5EF4-FFF2-40B4-BE49-F238E27FC236}">
                <a16:creationId xmlns:a16="http://schemas.microsoft.com/office/drawing/2014/main" id="{A51C462C-6D3B-4554-9CDC-86D00D0EA07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7989" r="7989"/>
          <a:stretch/>
        </p:blipFill>
        <p:spPr/>
      </p:pic>
    </p:spTree>
    <p:extLst>
      <p:ext uri="{BB962C8B-B14F-4D97-AF65-F5344CB8AC3E}">
        <p14:creationId xmlns:p14="http://schemas.microsoft.com/office/powerpoint/2010/main" val="767611276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reative Thinkers">
      <a:dk1>
        <a:srgbClr val="00172A"/>
      </a:dk1>
      <a:lt1>
        <a:srgbClr val="FFFFFF"/>
      </a:lt1>
      <a:dk2>
        <a:srgbClr val="002044"/>
      </a:dk2>
      <a:lt2>
        <a:srgbClr val="F5F0F3"/>
      </a:lt2>
      <a:accent1>
        <a:srgbClr val="8885E7"/>
      </a:accent1>
      <a:accent2>
        <a:srgbClr val="FF5400"/>
      </a:accent2>
      <a:accent3>
        <a:srgbClr val="8885E7"/>
      </a:accent3>
      <a:accent4>
        <a:srgbClr val="FF5400"/>
      </a:accent4>
      <a:accent5>
        <a:srgbClr val="8885E7"/>
      </a:accent5>
      <a:accent6>
        <a:srgbClr val="2474BA"/>
      </a:accent6>
      <a:hlink>
        <a:srgbClr val="04B3E2"/>
      </a:hlink>
      <a:folHlink>
        <a:srgbClr val="FF5400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CU-Corporate-Presentation-Navy_210923-Final" id="{EBA96625-FD33-B143-8712-9C3261315672}" vid="{2030E58C-9C1D-3B42-91A3-4275753AA0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AA4E0A75B48449850993E2543C1A0C" ma:contentTypeVersion="18" ma:contentTypeDescription="Create a new document." ma:contentTypeScope="" ma:versionID="85f3b1e5dedfbd8e614aa6b73c67b82b">
  <xsd:schema xmlns:xsd="http://www.w3.org/2001/XMLSchema" xmlns:xs="http://www.w3.org/2001/XMLSchema" xmlns:p="http://schemas.microsoft.com/office/2006/metadata/properties" xmlns:ns2="6b251b1d-8389-47a8-9ef5-19ba51eb251f" xmlns:ns3="94cd8044-5181-49a0-8c1a-2b4d54edc993" targetNamespace="http://schemas.microsoft.com/office/2006/metadata/properties" ma:root="true" ma:fieldsID="bc8869feb0eb11a7ce81e565456e9ef5" ns2:_="" ns3:_="">
    <xsd:import namespace="6b251b1d-8389-47a8-9ef5-19ba51eb251f"/>
    <xsd:import namespace="94cd8044-5181-49a0-8c1a-2b4d54edc99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251b1d-8389-47a8-9ef5-19ba51eb251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d46181-d5a6-4b19-a5ca-f8121f513b6b}" ma:internalName="TaxCatchAll" ma:showField="CatchAllData" ma:web="6b251b1d-8389-47a8-9ef5-19ba51eb25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cd8044-5181-49a0-8c1a-2b4d54edc9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6d2f554-d03b-4809-9b7d-234c481439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b251b1d-8389-47a8-9ef5-19ba51eb251f" xsi:nil="true"/>
    <MediaServiceKeyPoints xmlns="94cd8044-5181-49a0-8c1a-2b4d54edc993" xsi:nil="true"/>
    <lcf76f155ced4ddcb4097134ff3c332f xmlns="94cd8044-5181-49a0-8c1a-2b4d54edc99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24A7F9-0F51-4FB1-AB69-AF316553F2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251b1d-8389-47a8-9ef5-19ba51eb251f"/>
    <ds:schemaRef ds:uri="94cd8044-5181-49a0-8c1a-2b4d54edc9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A742F3-D2BE-4CC5-9066-2DB838FE2FFD}">
  <ds:schemaRefs>
    <ds:schemaRef ds:uri="6b251b1d-8389-47a8-9ef5-19ba51eb251f"/>
    <ds:schemaRef ds:uri="http://www.w3.org/XML/1998/namespace"/>
    <ds:schemaRef ds:uri="http://purl.org/dc/dcmitype/"/>
    <ds:schemaRef ds:uri="http://purl.org/dc/elements/1.1/"/>
    <ds:schemaRef ds:uri="94cd8044-5181-49a0-8c1a-2b4d54edc993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59152A6-D9F2-46C7-B217-D613495E7A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ECU-Corporate-Presentation-Navy_210923-Final (1)</Template>
  <TotalTime>124</TotalTime>
  <Words>1076</Words>
  <Application>Microsoft Macintosh PowerPoint</Application>
  <PresentationFormat>Widescreen</PresentationFormat>
  <Paragraphs>159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7" baseType="lpstr">
      <vt:lpstr>-apple-system</vt:lpstr>
      <vt:lpstr>Aptos</vt:lpstr>
      <vt:lpstr>Arial</vt:lpstr>
      <vt:lpstr>Avenir Next LT Pro</vt:lpstr>
      <vt:lpstr>Calibri</vt:lpstr>
      <vt:lpstr>ElsevierGulliver</vt:lpstr>
      <vt:lpstr>ElsevierSans</vt:lpstr>
      <vt:lpstr>Montserrat</vt:lpstr>
      <vt:lpstr>Open Sans</vt:lpstr>
      <vt:lpstr>PT Serif</vt:lpstr>
      <vt:lpstr>Public Sans</vt:lpstr>
      <vt:lpstr>Wingdings</vt:lpstr>
      <vt:lpstr>ColorBlockVTI</vt:lpstr>
      <vt:lpstr>Principal Supervisor Accreditation Program </vt:lpstr>
      <vt:lpstr>Gen AI in Academic Research</vt:lpstr>
      <vt:lpstr>What is Gen AI: A Researcher Perspective? </vt:lpstr>
      <vt:lpstr>Use of Gen AI in Australian universities</vt:lpstr>
      <vt:lpstr>How are Researchers using AI?</vt:lpstr>
      <vt:lpstr>AI: Innovation and Discovery in Research </vt:lpstr>
      <vt:lpstr>PowerPoint Presentation</vt:lpstr>
      <vt:lpstr>Researchers Concerns </vt:lpstr>
      <vt:lpstr>Human Intelligence and AI in Research</vt:lpstr>
      <vt:lpstr>AI and Research Journey stages </vt:lpstr>
      <vt:lpstr>Getting Ready for AI-Driven Research </vt:lpstr>
      <vt:lpstr>Supervisors Role </vt:lpstr>
      <vt:lpstr>Ethical Use of AI in Research (Students, Supervisors, and Org. Roles) 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PSAP Presentaion-2024</dc:title>
  <dc:creator>Ahmad MOHSIN</dc:creator>
  <cp:lastModifiedBy>Ahmad MOHSIN</cp:lastModifiedBy>
  <cp:revision>23</cp:revision>
  <dcterms:created xsi:type="dcterms:W3CDTF">2024-11-15T14:51:25Z</dcterms:created>
  <dcterms:modified xsi:type="dcterms:W3CDTF">2026-09-23T03:25:35Z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03081eab-cc3f-49a2-9582-7dfc12a01625_Enabled">
    <vt:lpwstr>true</vt:lpwstr>
  </property>
  <property fmtid="{D5CDD505-2E9C-101B-9397-08002B2CF9AE}" pid="5" name="MSIP_Label_03081eab-cc3f-49a2-9582-7dfc12a01625_SetDate">
    <vt:lpwstr>2026-09-23T02:50:15Z</vt:lpwstr>
  </property>
  <property fmtid="{D5CDD505-2E9C-101B-9397-08002B2CF9AE}" pid="6" name="MSIP_Label_03081eab-cc3f-49a2-9582-7dfc12a01625_Method">
    <vt:lpwstr>Standard</vt:lpwstr>
  </property>
  <property fmtid="{D5CDD505-2E9C-101B-9397-08002B2CF9AE}" pid="7" name="MSIP_Label_03081eab-cc3f-49a2-9582-7dfc12a01625_Name">
    <vt:lpwstr>Internal</vt:lpwstr>
  </property>
  <property fmtid="{D5CDD505-2E9C-101B-9397-08002B2CF9AE}" pid="8" name="MSIP_Label_03081eab-cc3f-49a2-9582-7dfc12a01625_SiteId">
    <vt:lpwstr>9bcb323d-7fa3-45e7-a36f-6d9cfdbcc272</vt:lpwstr>
  </property>
  <property fmtid="{D5CDD505-2E9C-101B-9397-08002B2CF9AE}" pid="9" name="MSIP_Label_03081eab-cc3f-49a2-9582-7dfc12a01625_ActionId">
    <vt:lpwstr>89d0407e-7f99-4e3e-98ab-10c30b8855b7</vt:lpwstr>
  </property>
  <property fmtid="{D5CDD505-2E9C-101B-9397-08002B2CF9AE}" pid="10" name="MSIP_Label_03081eab-cc3f-49a2-9582-7dfc12a01625_ContentBits">
    <vt:lpwstr>2</vt:lpwstr>
  </property>
  <property fmtid="{D5CDD505-2E9C-101B-9397-08002B2CF9AE}" pid="11" name="MSIP_Label_03081eab-cc3f-49a2-9582-7dfc12a01625_Tag">
    <vt:lpwstr>10, 3, 0, 2</vt:lpwstr>
  </property>
  <property fmtid="{D5CDD505-2E9C-101B-9397-08002B2CF9AE}" pid="12" name="ClassificationContentMarkingFooterLocations">
    <vt:lpwstr>ColorBlockVTI:7</vt:lpwstr>
  </property>
  <property fmtid="{D5CDD505-2E9C-101B-9397-08002B2CF9AE}" pid="13" name="ClassificationContentMarkingFooterText">
    <vt:lpwstr>ECU Internal Information</vt:lpwstr>
  </property>
</Properties>
</file>